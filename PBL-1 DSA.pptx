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Noto Serif" panose="02020600060500020200" pitchFamily="18" charset="0"/>
      <p:regular r:id="rId13"/>
    </p:embeddedFont>
    <p:embeddedFont>
      <p:font typeface="Noto Serif Bold" panose="02020800060500020200" charset="0"/>
      <p:regular r:id="rId14"/>
    </p:embeddedFont>
    <p:embeddedFont>
      <p:font typeface="Noto Serif Medium" panose="020B0604020202020204" charset="0"/>
      <p:regular r:id="rId15"/>
    </p:embeddedFont>
    <p:embeddedFont>
      <p:font typeface="Rockwell" panose="02060603020205020403" pitchFamily="18" charset="0"/>
      <p:regular r:id="rId16"/>
      <p:bold r:id="rId17"/>
      <p:italic r:id="rId18"/>
      <p:boldItalic r:id="rId19"/>
    </p:embeddedFont>
    <p:embeddedFont>
      <p:font typeface="Rockwell Condensed" panose="02060603050405020104" pitchFamily="18" charset="0"/>
      <p:regular r:id="rId20"/>
      <p:bold r:id="rId21"/>
    </p:embeddedFont>
    <p:embeddedFont>
      <p:font typeface="Rockwell Extra Bold" panose="02060903040505020403" pitchFamily="18" charset="0"/>
      <p:bold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7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990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90626" y="1010210"/>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3224773"/>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113584"/>
            <a:ext cx="7667244" cy="20574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7236911" y="3051692"/>
            <a:ext cx="810678" cy="810677"/>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074167"/>
            <a:ext cx="7475220" cy="2276856"/>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3291840"/>
            <a:ext cx="5918454" cy="802386"/>
          </a:xfrm>
        </p:spPr>
        <p:txBody>
          <a:bodyPr>
            <a:normAutofit/>
          </a:bodyPr>
          <a:lstStyle>
            <a:lvl1pPr marL="0" indent="0" algn="l">
              <a:buNone/>
              <a:defRPr sz="165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194550" y="3217001"/>
            <a:ext cx="895401" cy="480060"/>
          </a:xfrm>
        </p:spPr>
        <p:txBody>
          <a:bodyPr/>
          <a:lstStyle>
            <a:lvl1pPr>
              <a:defRPr sz="21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696990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856974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3688492"/>
            <a:ext cx="9144000" cy="1455008"/>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918972"/>
            <a:ext cx="6960870" cy="264033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1624331" y="3765042"/>
            <a:ext cx="6789420" cy="8001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4704588"/>
            <a:ext cx="1983232" cy="273844"/>
          </a:xfrm>
        </p:spPr>
        <p:txBody>
          <a:bodyPr/>
          <a:lstStyle/>
          <a:p>
            <a:fld id="{C6F822A4-8DA6-4447-9B1F-C5DB58435268}" type="datetimeFigureOut">
              <a:rPr lang="en-US" dirty="0"/>
              <a:t>8/3/2026</a:t>
            </a:fld>
            <a:endParaRPr lang="en-US" dirty="0"/>
          </a:p>
        </p:txBody>
      </p:sp>
      <p:sp>
        <p:nvSpPr>
          <p:cNvPr id="5" name="Footer Placeholder 4"/>
          <p:cNvSpPr>
            <a:spLocks noGrp="1"/>
          </p:cNvSpPr>
          <p:nvPr>
            <p:ph type="ftr" sz="quarter" idx="11"/>
          </p:nvPr>
        </p:nvSpPr>
        <p:spPr>
          <a:xfrm>
            <a:off x="1637031" y="4704588"/>
            <a:ext cx="4745736" cy="273844"/>
          </a:xfrm>
        </p:spPr>
        <p:txBody>
          <a:bodyPr/>
          <a:lstStyle/>
          <a:p>
            <a:endParaRPr lang="en-US" dirty="0"/>
          </a:p>
        </p:txBody>
      </p:sp>
      <p:grpSp>
        <p:nvGrpSpPr>
          <p:cNvPr id="8" name="Group 7"/>
          <p:cNvGrpSpPr/>
          <p:nvPr/>
        </p:nvGrpSpPr>
        <p:grpSpPr>
          <a:xfrm>
            <a:off x="673049" y="1744386"/>
            <a:ext cx="810678" cy="810677"/>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32776" y="1879600"/>
            <a:ext cx="891224" cy="540249"/>
          </a:xfrm>
        </p:spPr>
        <p:txBody>
          <a:bodyPr/>
          <a:lstStyle>
            <a:lvl1pPr>
              <a:defRPr sz="21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4495946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2386"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3168"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8/3/2026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70505008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0100"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02386"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73168"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73168"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8/3/2026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999459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8/3/2026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074875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8/3/2026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414820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628650" y="514350"/>
            <a:ext cx="5033772" cy="3765042"/>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8/3/2026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8551294" y="4672261"/>
            <a:ext cx="342900" cy="3429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5289644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51435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8/3/2026</a:t>
            </a:fld>
            <a:endParaRPr lang="en-US" dirty="0"/>
          </a:p>
        </p:txBody>
      </p:sp>
      <p:grpSp>
        <p:nvGrpSpPr>
          <p:cNvPr id="8" name="Group 7"/>
          <p:cNvGrpSpPr>
            <a:grpSpLocks noChangeAspect="1"/>
          </p:cNvGrpSpPr>
          <p:nvPr/>
        </p:nvGrpSpPr>
        <p:grpSpPr>
          <a:xfrm>
            <a:off x="8551294" y="4672261"/>
            <a:ext cx="342900" cy="3429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046982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828463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00050"/>
            <a:ext cx="1914525" cy="4229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00100" y="400050"/>
            <a:ext cx="5629275"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485233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81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363474"/>
            <a:ext cx="7543800" cy="12070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2386" y="1591056"/>
            <a:ext cx="7543800" cy="30380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3318" y="4704588"/>
            <a:ext cx="2455164" cy="273844"/>
          </a:xfrm>
          <a:prstGeom prst="rect">
            <a:avLst/>
          </a:prstGeom>
        </p:spPr>
        <p:txBody>
          <a:bodyPr vert="horz" lIns="91440" tIns="45720" rIns="91440" bIns="45720" rtlCol="0" anchor="ctr"/>
          <a:lstStyle>
            <a:lvl1pPr algn="r">
              <a:defRPr sz="825">
                <a:solidFill>
                  <a:schemeClr val="tx2"/>
                </a:solidFill>
              </a:defRPr>
            </a:lvl1pPr>
          </a:lstStyle>
          <a:p>
            <a:fld id="{8664C608-40B1-4030-A28D-5B74BC98ADCE}" type="datetimeFigureOut">
              <a:rPr lang="en-US" dirty="0"/>
              <a:t>8/3/2026</a:t>
            </a:fld>
            <a:endParaRPr lang="en-US" dirty="0"/>
          </a:p>
        </p:txBody>
      </p:sp>
      <p:sp>
        <p:nvSpPr>
          <p:cNvPr id="5" name="Footer Placeholder 4"/>
          <p:cNvSpPr>
            <a:spLocks noGrp="1"/>
          </p:cNvSpPr>
          <p:nvPr>
            <p:ph type="ftr" sz="quarter" idx="3"/>
          </p:nvPr>
        </p:nvSpPr>
        <p:spPr>
          <a:xfrm>
            <a:off x="816102" y="4704588"/>
            <a:ext cx="4745736" cy="273844"/>
          </a:xfrm>
          <a:prstGeom prst="rect">
            <a:avLst/>
          </a:prstGeom>
        </p:spPr>
        <p:txBody>
          <a:bodyPr vert="horz" lIns="91440" tIns="45720" rIns="91440" bIns="45720" rtlCol="0" anchor="ctr"/>
          <a:lstStyle>
            <a:lvl1pPr algn="l">
              <a:defRPr sz="825">
                <a:solidFill>
                  <a:schemeClr val="tx2"/>
                </a:solidFill>
              </a:defRPr>
            </a:lvl1pPr>
          </a:lstStyle>
          <a:p>
            <a:endParaRPr lang="en-US" dirty="0"/>
          </a:p>
        </p:txBody>
      </p:sp>
      <p:grpSp>
        <p:nvGrpSpPr>
          <p:cNvPr id="7" name="Group 6"/>
          <p:cNvGrpSpPr>
            <a:grpSpLocks noChangeAspect="1"/>
          </p:cNvGrpSpPr>
          <p:nvPr/>
        </p:nvGrpSpPr>
        <p:grpSpPr>
          <a:xfrm>
            <a:off x="8551294" y="4672261"/>
            <a:ext cx="342900" cy="3429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4704588"/>
            <a:ext cx="480060" cy="273844"/>
          </a:xfrm>
          <a:prstGeom prst="rect">
            <a:avLst/>
          </a:prstGeom>
        </p:spPr>
        <p:txBody>
          <a:bodyPr vert="horz" lIns="91440" tIns="45720" rIns="91440" bIns="45720" rtlCol="0" anchor="ctr"/>
          <a:lstStyle>
            <a:lvl1pPr algn="ctr">
              <a:defRPr sz="1050" b="1">
                <a:solidFill>
                  <a:srgbClr val="FFFFFF"/>
                </a:solidFill>
                <a:latin typeface="+mj-lt"/>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9501971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685800" rtl="0" eaLnBrk="1" latinLnBrk="0" hangingPunct="1">
        <a:lnSpc>
          <a:spcPct val="90000"/>
        </a:lnSpc>
        <a:spcBef>
          <a:spcPct val="0"/>
        </a:spcBef>
        <a:buNone/>
        <a:defRPr sz="405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nigdhapatlolla/A5_DSA_G12"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010209"/>
            <a:ext cx="7667244" cy="60512"/>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3224772"/>
            <a:ext cx="7667244" cy="60512"/>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113584"/>
            <a:ext cx="7667244" cy="2057400"/>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4" name="Group 13">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3051692"/>
            <a:ext cx="810678" cy="810676"/>
            <a:chOff x="9685338" y="4460675"/>
            <a:chExt cx="1080904" cy="1080902"/>
          </a:xfrm>
        </p:grpSpPr>
        <p:sp>
          <p:nvSpPr>
            <p:cNvPr id="15" name="Oval 14">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6" name="Oval 15">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18" name="Rectangle 17">
            <a:extLst>
              <a:ext uri="{FF2B5EF4-FFF2-40B4-BE49-F238E27FC236}">
                <a16:creationId xmlns:a16="http://schemas.microsoft.com/office/drawing/2014/main" id="{48FDEBDB-5859-4B9E-8810-2C5CFED09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788670" y="707231"/>
            <a:ext cx="7475220" cy="2643792"/>
          </a:xfrm>
          <a:prstGeom prst="rect">
            <a:avLst/>
          </a:prstGeom>
        </p:spPr>
        <p:txBody>
          <a:bodyPr vert="horz" lIns="91440" tIns="45720" rIns="91440" bIns="45720" rtlCol="0" anchor="b">
            <a:normAutofit/>
          </a:bodyPr>
          <a:lstStyle/>
          <a:p>
            <a:pPr marL="0" indent="0" algn="ctr" defTabSz="914400">
              <a:lnSpc>
                <a:spcPct val="80000"/>
              </a:lnSpc>
              <a:spcBef>
                <a:spcPct val="0"/>
              </a:spcBef>
              <a:spcAft>
                <a:spcPts val="600"/>
              </a:spcAft>
            </a:pPr>
            <a:r>
              <a:rPr lang="en-US" sz="4600" cap="all">
                <a:solidFill>
                  <a:srgbClr val="FFFFFF"/>
                </a:solidFill>
                <a:latin typeface="+mj-lt"/>
                <a:ea typeface="+mj-ea"/>
                <a:cs typeface="+mj-cs"/>
              </a:rPr>
              <a:t>Smart Document Similarity and Plagiarism Detection System using Advanced String Algorithms</a:t>
            </a:r>
          </a:p>
        </p:txBody>
      </p:sp>
      <p:sp>
        <p:nvSpPr>
          <p:cNvPr id="3" name="Text 1"/>
          <p:cNvSpPr/>
          <p:nvPr/>
        </p:nvSpPr>
        <p:spPr>
          <a:xfrm>
            <a:off x="802386" y="3486861"/>
            <a:ext cx="7461504" cy="1114618"/>
          </a:xfrm>
          <a:prstGeom prst="rect">
            <a:avLst/>
          </a:prstGeom>
        </p:spPr>
        <p:txBody>
          <a:bodyPr vert="horz" lIns="91440" tIns="45720" rIns="91440" bIns="45720" rtlCol="0">
            <a:normAutofit/>
          </a:bodyPr>
          <a:lstStyle/>
          <a:p>
            <a:pPr algn="ctr" defTabSz="914400">
              <a:lnSpc>
                <a:spcPct val="90000"/>
              </a:lnSpc>
              <a:spcBef>
                <a:spcPts val="1200"/>
              </a:spcBef>
              <a:buClr>
                <a:schemeClr val="accent1">
                  <a:lumMod val="75000"/>
                </a:schemeClr>
              </a:buClr>
              <a:buSzPct val="85000"/>
            </a:pPr>
            <a:r>
              <a:rPr lang="en-US" sz="2200">
                <a:solidFill>
                  <a:srgbClr val="FFFFFF">
                    <a:alpha val="60000"/>
                  </a:srgbClr>
                </a:solidFill>
              </a:rPr>
              <a:t> Project Review -1</a:t>
            </a:r>
          </a:p>
        </p:txBody>
      </p:sp>
      <p:cxnSp>
        <p:nvCxnSpPr>
          <p:cNvPr id="20" name="Straight Connector 19">
            <a:extLst>
              <a:ext uri="{FF2B5EF4-FFF2-40B4-BE49-F238E27FC236}">
                <a16:creationId xmlns:a16="http://schemas.microsoft.com/office/drawing/2014/main" id="{B1D1A340-723B-4014-B5FE-204F062731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43000" y="3418941"/>
            <a:ext cx="6858000" cy="0"/>
          </a:xfrm>
          <a:prstGeom prst="line">
            <a:avLst/>
          </a:prstGeom>
          <a:ln w="28575">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27893"/>
            <a:ext cx="8151763" cy="354360"/>
          </a:xfrm>
          <a:prstGeom prst="rect">
            <a:avLst/>
          </a:prstGeom>
          <a:noFill/>
          <a:ln/>
        </p:spPr>
        <p:txBody>
          <a:bodyPr wrap="none" lIns="0" tIns="0" rIns="0" bIns="0" rtlCol="0" anchor="t"/>
          <a:lstStyle/>
          <a:p>
            <a:pPr marL="0" indent="0" algn="l">
              <a:lnSpc>
                <a:spcPct val="104000"/>
              </a:lnSpc>
              <a:buNone/>
            </a:pPr>
            <a:r>
              <a:rPr lang="en-US" sz="2200">
                <a:solidFill>
                  <a:srgbClr val="3A3A3A"/>
                </a:solidFill>
                <a:latin typeface="Noto Serif Medium" pitchFamily="34" charset="0"/>
                <a:ea typeface="Noto Serif Medium" pitchFamily="34" charset="-122"/>
                <a:cs typeface="Noto Serif Medium" pitchFamily="34" charset="-120"/>
              </a:rPr>
              <a:t>Introduction &amp; Problem Statement</a:t>
            </a:r>
            <a:endParaRPr lang="en-US" sz="2200" dirty="0"/>
          </a:p>
        </p:txBody>
      </p:sp>
      <p:sp>
        <p:nvSpPr>
          <p:cNvPr id="3" name="Text 1"/>
          <p:cNvSpPr/>
          <p:nvPr/>
        </p:nvSpPr>
        <p:spPr>
          <a:xfrm>
            <a:off x="496119" y="1165771"/>
            <a:ext cx="8151763" cy="1747168"/>
          </a:xfrm>
          <a:prstGeom prst="rect">
            <a:avLst/>
          </a:prstGeom>
          <a:noFill/>
          <a:ln/>
        </p:spPr>
        <p:txBody>
          <a:bodyPr wrap="square" lIns="0" tIns="0" rIns="0" bIns="0" rtlCol="0" anchor="t">
            <a:normAutofit/>
          </a:bodyPr>
          <a:lstStyle/>
          <a:p>
            <a:pPr marL="0" indent="0" algn="l">
              <a:lnSpc>
                <a:spcPct val="133000"/>
              </a:lnSpc>
              <a:spcAft>
                <a:spcPts val="1250"/>
              </a:spcAft>
              <a:buNone/>
            </a:pPr>
            <a:r>
              <a:rPr lang="en-US" sz="1100">
                <a:solidFill>
                  <a:srgbClr val="4C4C4C"/>
                </a:solidFill>
                <a:latin typeface="Noto Serif" pitchFamily="34" charset="0"/>
                <a:ea typeface="Noto Serif" pitchFamily="34" charset="-122"/>
                <a:cs typeface="Noto Serif" pitchFamily="34" charset="-120"/>
              </a:rPr>
              <a:t> Introduction: With the rapid growth of digital documents, educational institutions, research organisations, and businesses manage large volumes of textual data daily. Detecting plagiarism and duplicate content is essential to preserve originality and maintain quality. </a:t>
            </a:r>
            <a:endParaRPr lang="en-US" sz="1100"/>
          </a:p>
          <a:p>
            <a:pPr marL="0" indent="0" algn="l">
              <a:lnSpc>
                <a:spcPct val="133000"/>
              </a:lnSpc>
              <a:buNone/>
            </a:pPr>
            <a:r>
              <a:rPr lang="en-US" sz="1100">
                <a:solidFill>
                  <a:srgbClr val="4C4C4C"/>
                </a:solidFill>
                <a:latin typeface="Noto Serif" pitchFamily="34" charset="0"/>
                <a:ea typeface="Noto Serif" pitchFamily="34" charset="-122"/>
                <a:cs typeface="Noto Serif" pitchFamily="34" charset="-120"/>
              </a:rPr>
              <a:t> Problem Statement: Existing plagiarism detection systems reliably detect verbatim copying but often fail to identify near-duplicate documents that use paraphrasing, reordered clauses, or minor lexical changes. Manual review is time-consuming and impractical for large collections; automated solutions must improve sensitivity to approximate matches while remaining efficient. </a:t>
            </a:r>
            <a:endParaRPr lang="en-US" sz="1100" dirty="0"/>
          </a:p>
        </p:txBody>
      </p:sp>
      <p:sp>
        <p:nvSpPr>
          <p:cNvPr id="4" name="Text 2"/>
          <p:cNvSpPr/>
          <p:nvPr/>
        </p:nvSpPr>
        <p:spPr>
          <a:xfrm>
            <a:off x="496119" y="3125539"/>
            <a:ext cx="8151763" cy="221456"/>
          </a:xfrm>
          <a:prstGeom prst="rect">
            <a:avLst/>
          </a:prstGeom>
          <a:noFill/>
          <a:ln/>
        </p:spPr>
        <p:txBody>
          <a:bodyPr wrap="none" lIns="0" tIns="0" rIns="0" bIns="0" rtlCol="0" anchor="t"/>
          <a:lstStyle/>
          <a:p>
            <a:pPr marL="0" indent="0" algn="l">
              <a:lnSpc>
                <a:spcPct val="104000"/>
              </a:lnSpc>
              <a:buNone/>
            </a:pPr>
            <a:r>
              <a:rPr lang="en-US" sz="1350">
                <a:solidFill>
                  <a:srgbClr val="3A3A3A"/>
                </a:solidFill>
                <a:latin typeface="Noto Serif Medium" pitchFamily="34" charset="0"/>
                <a:ea typeface="Noto Serif Medium" pitchFamily="34" charset="-122"/>
                <a:cs typeface="Noto Serif Medium" pitchFamily="34" charset="-120"/>
              </a:rPr>
              <a:t>Who Faces This Problem</a:t>
            </a:r>
            <a:endParaRPr lang="en-US" sz="1350" dirty="0"/>
          </a:p>
        </p:txBody>
      </p:sp>
      <p:sp>
        <p:nvSpPr>
          <p:cNvPr id="5" name="Text 3"/>
          <p:cNvSpPr/>
          <p:nvPr/>
        </p:nvSpPr>
        <p:spPr>
          <a:xfrm>
            <a:off x="496119" y="3559597"/>
            <a:ext cx="815176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a:solidFill>
                  <a:srgbClr val="4C4C4C"/>
                </a:solidFill>
                <a:latin typeface="Noto Serif" pitchFamily="34" charset="0"/>
                <a:ea typeface="Noto Serif" pitchFamily="34" charset="-122"/>
                <a:cs typeface="Noto Serif" pitchFamily="34" charset="-120"/>
              </a:rPr>
              <a:t>Researchers</a:t>
            </a:r>
            <a:endParaRPr lang="en-US" sz="1100"/>
          </a:p>
          <a:p>
            <a:pPr marL="223520" indent="-223520" algn="l">
              <a:lnSpc>
                <a:spcPct val="133000"/>
              </a:lnSpc>
              <a:buSzPct val="100000"/>
              <a:buChar char="•"/>
            </a:pPr>
            <a:r>
              <a:rPr lang="en-US" sz="1100">
                <a:solidFill>
                  <a:srgbClr val="4C4C4C"/>
                </a:solidFill>
                <a:latin typeface="Noto Serif" pitchFamily="34" charset="0"/>
                <a:ea typeface="Noto Serif" pitchFamily="34" charset="-122"/>
                <a:cs typeface="Noto Serif" pitchFamily="34" charset="-120"/>
              </a:rPr>
              <a:t>Universities</a:t>
            </a:r>
            <a:endParaRPr lang="en-US" sz="1100"/>
          </a:p>
          <a:p>
            <a:pPr marL="223520" indent="-223520" algn="l">
              <a:lnSpc>
                <a:spcPct val="133000"/>
              </a:lnSpc>
              <a:buSzPct val="100000"/>
              <a:buChar char="•"/>
            </a:pPr>
            <a:r>
              <a:rPr lang="en-US" sz="1100">
                <a:solidFill>
                  <a:srgbClr val="4C4C4C"/>
                </a:solidFill>
                <a:latin typeface="Noto Serif" pitchFamily="34" charset="0"/>
                <a:ea typeface="Noto Serif" pitchFamily="34" charset="-122"/>
                <a:cs typeface="Noto Serif" pitchFamily="34" charset="-120"/>
              </a:rPr>
              <a:t>Digital Libraries</a:t>
            </a:r>
            <a:endParaRPr lang="en-US" sz="1100"/>
          </a:p>
          <a:p>
            <a:pPr marL="223520" indent="-223520" algn="l">
              <a:lnSpc>
                <a:spcPct val="133000"/>
              </a:lnSpc>
              <a:buSzPct val="100000"/>
              <a:buChar char="•"/>
            </a:pPr>
            <a:r>
              <a:rPr lang="en-US" sz="1100">
                <a:solidFill>
                  <a:srgbClr val="4C4C4C"/>
                </a:solidFill>
                <a:latin typeface="Noto Serif" pitchFamily="34" charset="0"/>
                <a:ea typeface="Noto Serif" pitchFamily="34" charset="-122"/>
                <a:cs typeface="Noto Serif" pitchFamily="34" charset="-120"/>
              </a:rPr>
              <a:t>Organisations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066577"/>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3A3A3A"/>
                </a:solidFill>
                <a:latin typeface="Noto Serif Medium" pitchFamily="34" charset="0"/>
                <a:ea typeface="Noto Serif Medium" pitchFamily="34" charset="-122"/>
                <a:cs typeface="Noto Serif Medium" pitchFamily="34" charset="-120"/>
              </a:rPr>
              <a:t>Team Members &amp; Roles</a:t>
            </a:r>
            <a:endParaRPr lang="en-US" sz="2200" dirty="0"/>
          </a:p>
        </p:txBody>
      </p:sp>
      <p:sp>
        <p:nvSpPr>
          <p:cNvPr id="3" name="Shape 1"/>
          <p:cNvSpPr/>
          <p:nvPr/>
        </p:nvSpPr>
        <p:spPr>
          <a:xfrm>
            <a:off x="496119" y="1704454"/>
            <a:ext cx="8151763" cy="2372469"/>
          </a:xfrm>
          <a:prstGeom prst="roundRect">
            <a:avLst>
              <a:gd name="adj" fmla="val 2510"/>
            </a:avLst>
          </a:prstGeom>
          <a:noFill/>
          <a:ln w="4763">
            <a:solidFill>
              <a:srgbClr val="000000">
                <a:alpha val="8000"/>
              </a:srgbClr>
            </a:solidFill>
            <a:prstDash val="solid"/>
          </a:ln>
        </p:spPr>
        <p:txBody>
          <a:bodyPr/>
          <a:lstStyle/>
          <a:p>
            <a:endParaRPr lang="en-IN"/>
          </a:p>
        </p:txBody>
      </p:sp>
      <p:sp>
        <p:nvSpPr>
          <p:cNvPr id="4" name="Shape 2"/>
          <p:cNvSpPr/>
          <p:nvPr/>
        </p:nvSpPr>
        <p:spPr>
          <a:xfrm>
            <a:off x="496119" y="2118047"/>
            <a:ext cx="8151763" cy="8860"/>
          </a:xfrm>
          <a:prstGeom prst="rect">
            <a:avLst/>
          </a:prstGeom>
          <a:solidFill>
            <a:srgbClr val="000000">
              <a:alpha val="8000"/>
            </a:srgbClr>
          </a:solidFill>
          <a:ln/>
        </p:spPr>
        <p:txBody>
          <a:bodyPr/>
          <a:lstStyle/>
          <a:p>
            <a:endParaRPr lang="en-IN"/>
          </a:p>
        </p:txBody>
      </p:sp>
      <p:sp>
        <p:nvSpPr>
          <p:cNvPr id="5" name="Shape 3"/>
          <p:cNvSpPr/>
          <p:nvPr/>
        </p:nvSpPr>
        <p:spPr>
          <a:xfrm>
            <a:off x="496119" y="2982888"/>
            <a:ext cx="8151763" cy="8860"/>
          </a:xfrm>
          <a:prstGeom prst="rect">
            <a:avLst/>
          </a:prstGeom>
          <a:solidFill>
            <a:srgbClr val="000000">
              <a:alpha val="8000"/>
            </a:srgbClr>
          </a:solidFill>
          <a:ln/>
        </p:spPr>
        <p:txBody>
          <a:bodyPr/>
          <a:lstStyle/>
          <a:p>
            <a:endParaRPr lang="en-IN"/>
          </a:p>
        </p:txBody>
      </p:sp>
      <p:sp>
        <p:nvSpPr>
          <p:cNvPr id="6" name="Text 4"/>
          <p:cNvSpPr/>
          <p:nvPr/>
        </p:nvSpPr>
        <p:spPr>
          <a:xfrm>
            <a:off x="642714" y="1799034"/>
            <a:ext cx="3430563" cy="226814"/>
          </a:xfrm>
          <a:prstGeom prst="rect">
            <a:avLst/>
          </a:prstGeom>
          <a:noFill/>
          <a:ln/>
        </p:spPr>
        <p:txBody>
          <a:bodyPr wrap="none" lIns="0" tIns="0" rIns="0" bIns="0" rtlCol="0" anchor="t"/>
          <a:lstStyle/>
          <a:p>
            <a:pPr marL="0" indent="0" algn="l">
              <a:lnSpc>
                <a:spcPct val="133000"/>
              </a:lnSpc>
              <a:buNone/>
            </a:pPr>
            <a:r>
              <a:rPr lang="en-US" sz="1100" b="1" dirty="0">
                <a:solidFill>
                  <a:srgbClr val="4C4C4C"/>
                </a:solidFill>
                <a:latin typeface="Noto Serif Bold" pitchFamily="34" charset="0"/>
                <a:ea typeface="Noto Serif Bold" pitchFamily="34" charset="-122"/>
                <a:cs typeface="Noto Serif Bold" pitchFamily="34" charset="-120"/>
              </a:rPr>
              <a:t>Name</a:t>
            </a:r>
            <a:endParaRPr lang="en-US" sz="1100" dirty="0"/>
          </a:p>
        </p:txBody>
      </p:sp>
      <p:sp>
        <p:nvSpPr>
          <p:cNvPr id="7" name="Text 5"/>
          <p:cNvSpPr/>
          <p:nvPr/>
        </p:nvSpPr>
        <p:spPr>
          <a:xfrm>
            <a:off x="3899595" y="1799034"/>
            <a:ext cx="2616324" cy="226814"/>
          </a:xfrm>
          <a:prstGeom prst="rect">
            <a:avLst/>
          </a:prstGeom>
          <a:noFill/>
          <a:ln/>
        </p:spPr>
        <p:txBody>
          <a:bodyPr wrap="none" lIns="0" tIns="0" rIns="0" bIns="0" rtlCol="0" anchor="t"/>
          <a:lstStyle/>
          <a:p>
            <a:pPr marL="0" indent="0" algn="l">
              <a:lnSpc>
                <a:spcPct val="133000"/>
              </a:lnSpc>
              <a:buNone/>
            </a:pPr>
            <a:r>
              <a:rPr lang="en-US" sz="1100" b="1" dirty="0">
                <a:solidFill>
                  <a:srgbClr val="4C4C4C"/>
                </a:solidFill>
                <a:latin typeface="Noto Serif Bold" pitchFamily="34" charset="0"/>
                <a:ea typeface="Noto Serif Bold" pitchFamily="34" charset="-122"/>
                <a:cs typeface="Noto Serif Bold" pitchFamily="34" charset="-120"/>
              </a:rPr>
              <a:t>Roll Number</a:t>
            </a:r>
            <a:endParaRPr lang="en-US" sz="1100" dirty="0"/>
          </a:p>
        </p:txBody>
      </p:sp>
      <p:sp>
        <p:nvSpPr>
          <p:cNvPr id="8" name="Text 6"/>
          <p:cNvSpPr/>
          <p:nvPr/>
        </p:nvSpPr>
        <p:spPr>
          <a:xfrm>
            <a:off x="6342236" y="1799034"/>
            <a:ext cx="2616324" cy="226814"/>
          </a:xfrm>
          <a:prstGeom prst="rect">
            <a:avLst/>
          </a:prstGeom>
          <a:noFill/>
          <a:ln/>
        </p:spPr>
        <p:txBody>
          <a:bodyPr wrap="none" lIns="0" tIns="0" rIns="0" bIns="0" rtlCol="0" anchor="t"/>
          <a:lstStyle/>
          <a:p>
            <a:pPr marL="0" indent="0" algn="l">
              <a:lnSpc>
                <a:spcPct val="133000"/>
              </a:lnSpc>
              <a:buNone/>
            </a:pPr>
            <a:r>
              <a:rPr lang="en-US" sz="1100" b="1" dirty="0">
                <a:solidFill>
                  <a:srgbClr val="4C4C4C"/>
                </a:solidFill>
                <a:latin typeface="Noto Serif Bold" pitchFamily="34" charset="0"/>
                <a:ea typeface="Noto Serif Bold" pitchFamily="34" charset="-122"/>
                <a:cs typeface="Noto Serif Bold" pitchFamily="34" charset="-120"/>
              </a:rPr>
              <a:t>Responsibilities</a:t>
            </a:r>
            <a:endParaRPr lang="en-US" sz="1100" dirty="0"/>
          </a:p>
        </p:txBody>
      </p:sp>
      <p:sp>
        <p:nvSpPr>
          <p:cNvPr id="9" name="Text 7"/>
          <p:cNvSpPr/>
          <p:nvPr/>
        </p:nvSpPr>
        <p:spPr>
          <a:xfrm>
            <a:off x="642714" y="2210246"/>
            <a:ext cx="3430563" cy="226814"/>
          </a:xfrm>
          <a:prstGeom prst="rect">
            <a:avLst/>
          </a:prstGeom>
          <a:noFill/>
          <a:ln/>
        </p:spPr>
        <p:txBody>
          <a:bodyPr wrap="none" lIns="0" tIns="0" rIns="0" bIns="0" rtlCol="0" anchor="t"/>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Snigdha Patlolla</a:t>
            </a:r>
            <a:endParaRPr lang="en-US" sz="1100" dirty="0"/>
          </a:p>
        </p:txBody>
      </p:sp>
      <p:sp>
        <p:nvSpPr>
          <p:cNvPr id="10" name="Text 8"/>
          <p:cNvSpPr/>
          <p:nvPr/>
        </p:nvSpPr>
        <p:spPr>
          <a:xfrm>
            <a:off x="3899595" y="2210246"/>
            <a:ext cx="2616324" cy="226814"/>
          </a:xfrm>
          <a:prstGeom prst="rect">
            <a:avLst/>
          </a:prstGeom>
          <a:noFill/>
          <a:ln/>
        </p:spPr>
        <p:txBody>
          <a:bodyPr wrap="none" lIns="0" tIns="0" rIns="0" bIns="0" rtlCol="0" anchor="t"/>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2510030269</a:t>
            </a:r>
            <a:endParaRPr lang="en-US" sz="1100" dirty="0"/>
          </a:p>
        </p:txBody>
      </p:sp>
      <p:sp>
        <p:nvSpPr>
          <p:cNvPr id="11" name="Text 9"/>
          <p:cNvSpPr/>
          <p:nvPr/>
        </p:nvSpPr>
        <p:spPr>
          <a:xfrm>
            <a:off x="6342236" y="2210246"/>
            <a:ext cx="2159124"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 Backend Development (Java); Algorithm implementation; Database integration</a:t>
            </a:r>
            <a:endParaRPr lang="en-US" sz="1100" dirty="0"/>
          </a:p>
        </p:txBody>
      </p:sp>
      <p:sp>
        <p:nvSpPr>
          <p:cNvPr id="12" name="Text 10"/>
          <p:cNvSpPr/>
          <p:nvPr/>
        </p:nvSpPr>
        <p:spPr>
          <a:xfrm>
            <a:off x="642714" y="3075087"/>
            <a:ext cx="3430563" cy="226814"/>
          </a:xfrm>
          <a:prstGeom prst="rect">
            <a:avLst/>
          </a:prstGeom>
          <a:noFill/>
          <a:ln/>
        </p:spPr>
        <p:txBody>
          <a:bodyPr wrap="none" lIns="0" tIns="0" rIns="0" bIns="0" rtlCol="0" anchor="t"/>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Shravya</a:t>
            </a:r>
            <a:endParaRPr lang="en-US" sz="1100" dirty="0"/>
          </a:p>
        </p:txBody>
      </p:sp>
      <p:sp>
        <p:nvSpPr>
          <p:cNvPr id="13" name="Text 11"/>
          <p:cNvSpPr/>
          <p:nvPr/>
        </p:nvSpPr>
        <p:spPr>
          <a:xfrm>
            <a:off x="3899595" y="3075087"/>
            <a:ext cx="2616324" cy="226814"/>
          </a:xfrm>
          <a:prstGeom prst="rect">
            <a:avLst/>
          </a:prstGeom>
          <a:noFill/>
          <a:ln/>
        </p:spPr>
        <p:txBody>
          <a:bodyPr wrap="none" lIns="0" tIns="0" rIns="0" bIns="0" rtlCol="0" anchor="t"/>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2510030123</a:t>
            </a:r>
            <a:endParaRPr lang="en-US" sz="1100" dirty="0"/>
          </a:p>
        </p:txBody>
      </p:sp>
      <p:sp>
        <p:nvSpPr>
          <p:cNvPr id="14" name="Text 12"/>
          <p:cNvSpPr/>
          <p:nvPr/>
        </p:nvSpPr>
        <p:spPr>
          <a:xfrm>
            <a:off x="6342236" y="3075087"/>
            <a:ext cx="2159124"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C4C4C"/>
                </a:solidFill>
                <a:latin typeface="Noto Serif" pitchFamily="34" charset="0"/>
                <a:ea typeface="Noto Serif" pitchFamily="34" charset="-122"/>
                <a:cs typeface="Noto Serif" pitchFamily="34" charset="-120"/>
              </a:rPr>
              <a:t>Frontend Development (HTML, CSS, JavaScript); UI development; Testing; Documentation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2FD491-28F3-42E7-AEBF-A9E3C462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4672260"/>
            <a:ext cx="342900" cy="342900"/>
            <a:chOff x="11361456" y="6195813"/>
            <a:chExt cx="548640" cy="548640"/>
          </a:xfrm>
        </p:grpSpPr>
        <p:sp>
          <p:nvSpPr>
            <p:cNvPr id="9" name="Oval 8">
              <a:extLst>
                <a:ext uri="{FF2B5EF4-FFF2-40B4-BE49-F238E27FC236}">
                  <a16:creationId xmlns:a16="http://schemas.microsoft.com/office/drawing/2014/main" id="{AD016B6E-F283-4CFB-9099-05C8DA6A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a:extLst>
                <a:ext uri="{FF2B5EF4-FFF2-40B4-BE49-F238E27FC236}">
                  <a16:creationId xmlns:a16="http://schemas.microsoft.com/office/drawing/2014/main" id="{72D0360E-345F-4790-B0A0-03ADC36B5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12" name="Rectangle 11">
            <a:extLst>
              <a:ext uri="{FF2B5EF4-FFF2-40B4-BE49-F238E27FC236}">
                <a16:creationId xmlns:a16="http://schemas.microsoft.com/office/drawing/2014/main" id="{9FB3768C-1D21-400E-B059-EFF86063F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51434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87BCA1-45E6-44B3-B3DA-1F4144DE6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26"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482600" y="482599"/>
            <a:ext cx="2762227" cy="4185265"/>
          </a:xfrm>
          <a:prstGeom prst="rect">
            <a:avLst/>
          </a:prstGeom>
        </p:spPr>
        <p:txBody>
          <a:bodyPr vert="horz" lIns="91440" tIns="45720" rIns="91440" bIns="45720" rtlCol="0" anchor="ctr">
            <a:normAutofit/>
          </a:bodyPr>
          <a:lstStyle/>
          <a:p>
            <a:pPr marL="0" indent="0" algn="r" defTabSz="914400">
              <a:lnSpc>
                <a:spcPct val="90000"/>
              </a:lnSpc>
              <a:spcBef>
                <a:spcPct val="0"/>
              </a:spcBef>
              <a:spcAft>
                <a:spcPts val="600"/>
              </a:spcAft>
            </a:pPr>
            <a:r>
              <a:rPr lang="en-US" sz="5400" cap="all">
                <a:solidFill>
                  <a:srgbClr val="FFFFFF"/>
                </a:solidFill>
                <a:latin typeface="+mj-lt"/>
                <a:ea typeface="+mj-ea"/>
                <a:cs typeface="+mj-cs"/>
              </a:rPr>
              <a:t>Features</a:t>
            </a:r>
          </a:p>
        </p:txBody>
      </p:sp>
      <p:sp>
        <p:nvSpPr>
          <p:cNvPr id="3" name="Text 1"/>
          <p:cNvSpPr/>
          <p:nvPr/>
        </p:nvSpPr>
        <p:spPr>
          <a:xfrm>
            <a:off x="3699417" y="482599"/>
            <a:ext cx="4972633" cy="4146551"/>
          </a:xfrm>
          <a:prstGeom prst="rect">
            <a:avLst/>
          </a:prstGeom>
        </p:spPr>
        <p:txBody>
          <a:bodyPr vert="horz" lIns="91440" tIns="45720" rIns="91440" bIns="45720" rtlCol="0" anchor="ctr">
            <a:normAutofit/>
          </a:bodyPr>
          <a:lstStyle/>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Upload and compare multiple documents concurrently</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Detect exact plagiarism (verbatim matches)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Identify near-duplicate documents using advanced string algorithms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Compute similarity percentage with configurable thresholds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Generate downloadable, structured plagiarism reports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Highlight matching content with contextual excerpts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400"/>
              <a:t>Support PDF, DOCX, and TXT input formats</a:t>
            </a:r>
          </a:p>
        </p:txBody>
      </p:sp>
      <p:grpSp>
        <p:nvGrpSpPr>
          <p:cNvPr id="16" name="Group 15">
            <a:extLst>
              <a:ext uri="{FF2B5EF4-FFF2-40B4-BE49-F238E27FC236}">
                <a16:creationId xmlns:a16="http://schemas.microsoft.com/office/drawing/2014/main" id="{9AE62FDA-E44C-440D-A3D3-5C188720D4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4672260"/>
            <a:ext cx="342900" cy="342900"/>
            <a:chOff x="11401725" y="6229681"/>
            <a:chExt cx="457200" cy="457200"/>
          </a:xfrm>
        </p:grpSpPr>
        <p:sp>
          <p:nvSpPr>
            <p:cNvPr id="17" name="Oval 16">
              <a:extLst>
                <a:ext uri="{FF2B5EF4-FFF2-40B4-BE49-F238E27FC236}">
                  <a16:creationId xmlns:a16="http://schemas.microsoft.com/office/drawing/2014/main" id="{28B45BF8-A8A3-426E-89DE-A44F6E180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647C25B3-5F51-49AB-A886-D555D2F4A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2FD491-28F3-42E7-AEBF-A9E3C462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4672260"/>
            <a:ext cx="342900" cy="342900"/>
            <a:chOff x="11361456" y="6195813"/>
            <a:chExt cx="548640" cy="548640"/>
          </a:xfrm>
        </p:grpSpPr>
        <p:sp>
          <p:nvSpPr>
            <p:cNvPr id="9" name="Oval 8">
              <a:extLst>
                <a:ext uri="{FF2B5EF4-FFF2-40B4-BE49-F238E27FC236}">
                  <a16:creationId xmlns:a16="http://schemas.microsoft.com/office/drawing/2014/main" id="{AD016B6E-F283-4CFB-9099-05C8DA6A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a:extLst>
                <a:ext uri="{FF2B5EF4-FFF2-40B4-BE49-F238E27FC236}">
                  <a16:creationId xmlns:a16="http://schemas.microsoft.com/office/drawing/2014/main" id="{72D0360E-345F-4790-B0A0-03ADC36B5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12" name="Rectangle 11">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489930"/>
            <a:ext cx="8181594" cy="6051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1" y="616743"/>
            <a:ext cx="3862197" cy="3921209"/>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965200" y="1099342"/>
            <a:ext cx="2895599" cy="2956009"/>
          </a:xfrm>
          <a:prstGeom prst="rect">
            <a:avLst/>
          </a:prstGeom>
        </p:spPr>
        <p:txBody>
          <a:bodyPr vert="horz" lIns="91440" tIns="45720" rIns="91440" bIns="45720" rtlCol="0" anchor="ctr">
            <a:normAutofit/>
          </a:bodyPr>
          <a:lstStyle/>
          <a:p>
            <a:pPr marL="0" indent="0" defTabSz="914400">
              <a:lnSpc>
                <a:spcPct val="90000"/>
              </a:lnSpc>
              <a:spcBef>
                <a:spcPct val="0"/>
              </a:spcBef>
              <a:spcAft>
                <a:spcPts val="600"/>
              </a:spcAft>
            </a:pPr>
            <a:r>
              <a:rPr lang="en-US" sz="4500" cap="all">
                <a:blipFill>
                  <a:blip r:embed="rId7">
                    <a:extLst>
                      <a:ext uri="{28A0092B-C50C-407E-A947-70E740481C1C}">
                        <a14:useLocalDpi xmlns:a14="http://schemas.microsoft.com/office/drawing/2010/main" val="0"/>
                      </a:ext>
                    </a:extLst>
                  </a:blip>
                  <a:tile tx="6350" ty="-127000" sx="65000" sy="64000" flip="none" algn="tl"/>
                </a:blipFill>
                <a:latin typeface="+mj-lt"/>
                <a:ea typeface="+mj-ea"/>
                <a:cs typeface="+mj-cs"/>
              </a:rPr>
              <a:t>Expected Outcomes</a:t>
            </a:r>
          </a:p>
        </p:txBody>
      </p:sp>
      <p:sp>
        <p:nvSpPr>
          <p:cNvPr id="3" name="Text 1"/>
          <p:cNvSpPr/>
          <p:nvPr/>
        </p:nvSpPr>
        <p:spPr>
          <a:xfrm>
            <a:off x="4813299" y="1019317"/>
            <a:ext cx="3849499" cy="3036035"/>
          </a:xfrm>
          <a:prstGeom prst="rect">
            <a:avLst/>
          </a:prstGeom>
        </p:spPr>
        <p:txBody>
          <a:bodyPr vert="horz" lIns="91440" tIns="45720" rIns="91440" bIns="45720" rtlCol="0" anchor="ctr">
            <a:normAutofit/>
          </a:bodyPr>
          <a:lstStyle/>
          <a:p>
            <a:pPr marL="223520" indent="-182880" defTabSz="914400">
              <a:lnSpc>
                <a:spcPct val="90000"/>
              </a:lnSpc>
              <a:spcAft>
                <a:spcPts val="600"/>
              </a:spcAft>
              <a:buClr>
                <a:schemeClr val="accent1">
                  <a:lumMod val="75000"/>
                </a:schemeClr>
              </a:buClr>
              <a:buSzPct val="85000"/>
              <a:buFont typeface="Wingdings" pitchFamily="2" charset="2"/>
              <a:buChar char="§"/>
            </a:pPr>
            <a:r>
              <a:rPr lang="en-US" sz="1700"/>
              <a:t>Faster document comparison and batch processing</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700"/>
              <a:t>Improved detection of paraphrased and modified duplicates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700"/>
              <a:t>Strengthened academic integrity and research fidelity</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700"/>
              <a:t>Reduced storage overhead by identifying duplicate content</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700"/>
              <a:t>More efficient document management workflows</a:t>
            </a:r>
          </a:p>
        </p:txBody>
      </p:sp>
      <p:sp>
        <p:nvSpPr>
          <p:cNvPr id="18" name="Rectangle 17">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4591246"/>
            <a:ext cx="8181594" cy="60512"/>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2FD491-28F3-42E7-AEBF-A9E3C462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4672260"/>
            <a:ext cx="342900" cy="342900"/>
            <a:chOff x="11361456" y="6195813"/>
            <a:chExt cx="548640" cy="548640"/>
          </a:xfrm>
        </p:grpSpPr>
        <p:sp>
          <p:nvSpPr>
            <p:cNvPr id="9" name="Oval 8">
              <a:extLst>
                <a:ext uri="{FF2B5EF4-FFF2-40B4-BE49-F238E27FC236}">
                  <a16:creationId xmlns:a16="http://schemas.microsoft.com/office/drawing/2014/main" id="{AD016B6E-F283-4CFB-9099-05C8DA6A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a:extLst>
                <a:ext uri="{FF2B5EF4-FFF2-40B4-BE49-F238E27FC236}">
                  <a16:creationId xmlns:a16="http://schemas.microsoft.com/office/drawing/2014/main" id="{72D0360E-345F-4790-B0A0-03ADC36B5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12" name="Rectangle 11">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48089"/>
            <a:ext cx="7667244" cy="60512"/>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51464"/>
            <a:ext cx="7667244" cy="1039405"/>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1528991"/>
            <a:ext cx="7667244" cy="60512"/>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 0"/>
          <p:cNvSpPr/>
          <p:nvPr/>
        </p:nvSpPr>
        <p:spPr>
          <a:xfrm>
            <a:off x="802386" y="363474"/>
            <a:ext cx="7543800" cy="1207008"/>
          </a:xfrm>
          <a:prstGeom prst="rect">
            <a:avLst/>
          </a:prstGeom>
        </p:spPr>
        <p:txBody>
          <a:bodyPr vert="horz" lIns="91440" tIns="45720" rIns="91440" bIns="45720" rtlCol="0" anchor="ctr">
            <a:normAutofit/>
          </a:bodyPr>
          <a:lstStyle/>
          <a:p>
            <a:pPr marL="0" indent="0" defTabSz="914400">
              <a:lnSpc>
                <a:spcPct val="90000"/>
              </a:lnSpc>
              <a:spcBef>
                <a:spcPct val="0"/>
              </a:spcBef>
              <a:spcAft>
                <a:spcPts val="600"/>
              </a:spcAft>
            </a:pPr>
            <a:r>
              <a:rPr lang="en-US" sz="5400" cap="all">
                <a:blipFill>
                  <a:blip r:embed="rId7">
                    <a:extLst>
                      <a:ext uri="{28A0092B-C50C-407E-A947-70E740481C1C}">
                        <a14:useLocalDpi xmlns:a14="http://schemas.microsoft.com/office/drawing/2010/main" val="0"/>
                      </a:ext>
                    </a:extLst>
                  </a:blip>
                  <a:tile tx="6350" ty="-127000" sx="65000" sy="64000" flip="none" algn="tl"/>
                </a:blipFill>
                <a:latin typeface="+mj-lt"/>
                <a:ea typeface="+mj-ea"/>
                <a:cs typeface="+mj-cs"/>
              </a:rPr>
              <a:t>Applications</a:t>
            </a:r>
          </a:p>
        </p:txBody>
      </p:sp>
      <p:sp>
        <p:nvSpPr>
          <p:cNvPr id="3" name="Text 1"/>
          <p:cNvSpPr/>
          <p:nvPr/>
        </p:nvSpPr>
        <p:spPr>
          <a:xfrm>
            <a:off x="802386" y="1740309"/>
            <a:ext cx="7543800" cy="2888840"/>
          </a:xfrm>
          <a:prstGeom prst="rect">
            <a:avLst/>
          </a:prstGeom>
        </p:spPr>
        <p:txBody>
          <a:bodyPr vert="horz" lIns="91440" tIns="45720" rIns="91440" bIns="45720" rtlCol="0">
            <a:normAutofit/>
          </a:bodyPr>
          <a:lstStyle/>
          <a:p>
            <a:pPr marL="223520" indent="-182880" defTabSz="914400">
              <a:lnSpc>
                <a:spcPct val="90000"/>
              </a:lnSpc>
              <a:spcAft>
                <a:spcPts val="600"/>
              </a:spcAft>
              <a:buClr>
                <a:schemeClr val="accent1">
                  <a:lumMod val="75000"/>
                </a:schemeClr>
              </a:buClr>
              <a:buSzPct val="85000"/>
              <a:buFont typeface="Wingdings" pitchFamily="2" charset="2"/>
              <a:buChar char="§"/>
            </a:pPr>
            <a:r>
              <a:rPr lang="en-US"/>
              <a:t>Educational Institutions — Detect plagiarism in assignments, theses, and projects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a:t>Research Organisations — Verify originality of manuscripts and preprints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a:t>Digital Libraries — Identify and deduplicate archival content</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a:t>Businesses &amp; Government — Ensure document provenance and compliance</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a:t>Cloud Storage Platforms — Reduce redundant files and optimise storage utilisation</a:t>
            </a:r>
          </a:p>
        </p:txBody>
      </p:sp>
      <p:sp>
        <p:nvSpPr>
          <p:cNvPr id="20" name="Oval 19">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4672260"/>
            <a:ext cx="342900" cy="342900"/>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4694155"/>
            <a:ext cx="299110" cy="299111"/>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06670"/>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3A3A3A"/>
                </a:solidFill>
                <a:latin typeface="Noto Serif Medium" pitchFamily="34" charset="0"/>
                <a:ea typeface="Noto Serif Medium" pitchFamily="34" charset="-122"/>
                <a:cs typeface="Noto Serif Medium" pitchFamily="34" charset="-120"/>
              </a:rPr>
              <a:t>Algorithmic Approach:</a:t>
            </a:r>
            <a:endParaRPr lang="en-US" sz="2200" dirty="0"/>
          </a:p>
        </p:txBody>
      </p:sp>
      <p:sp>
        <p:nvSpPr>
          <p:cNvPr id="4" name="Text 2"/>
          <p:cNvSpPr/>
          <p:nvPr/>
        </p:nvSpPr>
        <p:spPr>
          <a:xfrm>
            <a:off x="566458" y="1166589"/>
            <a:ext cx="8151763" cy="1460004"/>
          </a:xfrm>
          <a:prstGeom prst="rect">
            <a:avLst/>
          </a:prstGeom>
          <a:noFill/>
          <a:ln/>
        </p:spPr>
        <p:txBody>
          <a:bodyPr wrap="square" lIns="0" tIns="0" rIns="0" bIns="0" rtlCol="0" anchor="t">
            <a:noAutofit/>
          </a:bodyPr>
          <a:lstStyle/>
          <a:p>
            <a:pPr marL="223520" indent="-223520" algn="l">
              <a:lnSpc>
                <a:spcPct val="133000"/>
              </a:lnSpc>
              <a:buSzPct val="100000"/>
              <a:buChar char="•"/>
            </a:pPr>
            <a:r>
              <a:rPr lang="en-US" sz="1600" dirty="0">
                <a:solidFill>
                  <a:srgbClr val="4C4C4C"/>
                </a:solidFill>
                <a:latin typeface="Noto Serif" pitchFamily="34" charset="0"/>
                <a:ea typeface="Noto Serif" pitchFamily="34" charset="-122"/>
                <a:cs typeface="Noto Serif" pitchFamily="34" charset="-120"/>
              </a:rPr>
              <a:t>Normalized Edit Distances: Use variant of </a:t>
            </a:r>
            <a:r>
              <a:rPr lang="en-US" sz="1600" dirty="0" err="1">
                <a:solidFill>
                  <a:srgbClr val="4C4C4C"/>
                </a:solidFill>
                <a:latin typeface="Noto Serif" pitchFamily="34" charset="0"/>
                <a:ea typeface="Noto Serif" pitchFamily="34" charset="-122"/>
                <a:cs typeface="Noto Serif" pitchFamily="34" charset="-120"/>
              </a:rPr>
              <a:t>Levenshtein</a:t>
            </a:r>
            <a:r>
              <a:rPr lang="en-US" sz="1600" dirty="0">
                <a:solidFill>
                  <a:srgbClr val="4C4C4C"/>
                </a:solidFill>
                <a:latin typeface="Noto Serif" pitchFamily="34" charset="0"/>
                <a:ea typeface="Noto Serif" pitchFamily="34" charset="-122"/>
                <a:cs typeface="Noto Serif" pitchFamily="34" charset="-120"/>
              </a:rPr>
              <a:t> or </a:t>
            </a:r>
            <a:r>
              <a:rPr lang="en-US" sz="1600" dirty="0" err="1">
                <a:solidFill>
                  <a:srgbClr val="4C4C4C"/>
                </a:solidFill>
                <a:latin typeface="Noto Serif" pitchFamily="34" charset="0"/>
                <a:ea typeface="Noto Serif" pitchFamily="34" charset="-122"/>
                <a:cs typeface="Noto Serif" pitchFamily="34" charset="-120"/>
              </a:rPr>
              <a:t>Damerau</a:t>
            </a:r>
            <a:r>
              <a:rPr lang="en-US" sz="1600" dirty="0">
                <a:solidFill>
                  <a:srgbClr val="4C4C4C"/>
                </a:solidFill>
                <a:latin typeface="Noto Serif" pitchFamily="34" charset="0"/>
                <a:ea typeface="Noto Serif" pitchFamily="34" charset="-122"/>
                <a:cs typeface="Noto Serif" pitchFamily="34" charset="-120"/>
              </a:rPr>
              <a:t>–</a:t>
            </a:r>
            <a:r>
              <a:rPr lang="en-US" sz="1600" dirty="0" err="1">
                <a:solidFill>
                  <a:srgbClr val="4C4C4C"/>
                </a:solidFill>
                <a:latin typeface="Noto Serif" pitchFamily="34" charset="0"/>
                <a:ea typeface="Noto Serif" pitchFamily="34" charset="-122"/>
                <a:cs typeface="Noto Serif" pitchFamily="34" charset="-120"/>
              </a:rPr>
              <a:t>Levenshtein</a:t>
            </a:r>
            <a:r>
              <a:rPr lang="en-US" sz="1600" dirty="0">
                <a:solidFill>
                  <a:srgbClr val="4C4C4C"/>
                </a:solidFill>
                <a:latin typeface="Noto Serif" pitchFamily="34" charset="0"/>
                <a:ea typeface="Noto Serif" pitchFamily="34" charset="-122"/>
                <a:cs typeface="Noto Serif" pitchFamily="34" charset="-120"/>
              </a:rPr>
              <a:t> on sentence pairs to detect paraphrase-level edits with normalization for sentence length.</a:t>
            </a:r>
            <a:endParaRPr lang="en-US" sz="1600" dirty="0"/>
          </a:p>
          <a:p>
            <a:pPr marL="223520" indent="-223520" algn="l">
              <a:lnSpc>
                <a:spcPct val="133000"/>
              </a:lnSpc>
              <a:buSzPct val="100000"/>
              <a:buChar char="•"/>
            </a:pPr>
            <a:r>
              <a:rPr lang="en-US" sz="1600" dirty="0">
                <a:solidFill>
                  <a:srgbClr val="4C4C4C"/>
                </a:solidFill>
                <a:latin typeface="Noto Serif" pitchFamily="34" charset="0"/>
                <a:ea typeface="Noto Serif" pitchFamily="34" charset="-122"/>
                <a:cs typeface="Noto Serif" pitchFamily="34" charset="-120"/>
              </a:rPr>
              <a:t>Longest Common Subsequence (LCS) variants: Identify substantial contiguous matches robust to insertions and deletions.</a:t>
            </a:r>
            <a:endParaRPr lang="en-US" sz="1600" dirty="0"/>
          </a:p>
          <a:p>
            <a:pPr marL="223520" indent="-223520" algn="l">
              <a:lnSpc>
                <a:spcPct val="133000"/>
              </a:lnSpc>
              <a:buSzPct val="100000"/>
              <a:buChar char="•"/>
            </a:pPr>
            <a:r>
              <a:rPr lang="en-US" sz="1600" dirty="0">
                <a:solidFill>
                  <a:srgbClr val="4C4C4C"/>
                </a:solidFill>
                <a:latin typeface="Noto Serif" pitchFamily="34" charset="0"/>
                <a:ea typeface="Noto Serif" pitchFamily="34" charset="-122"/>
                <a:cs typeface="Noto Serif" pitchFamily="34" charset="-120"/>
              </a:rPr>
              <a:t>Hybrid scoring: Combine multiple similarity metrics (weighted ensemble) to improve precision and recall; apply adaptive thresholds based on document length and genre.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494904"/>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GIT-LINK</a:t>
            </a:r>
            <a:endParaRPr lang="en-US" sz="2750" dirty="0"/>
          </a:p>
        </p:txBody>
      </p:sp>
      <p:pic>
        <p:nvPicPr>
          <p:cNvPr id="3" name="Image 0" descr="preencoded.png">
            <a:hlinkClick r:id="rId3"/>
          </p:cNvPr>
          <p:cNvPicPr>
            <a:picLocks noChangeAspect="1"/>
          </p:cNvPicPr>
          <p:nvPr/>
        </p:nvPicPr>
        <p:blipFill>
          <a:blip r:embed="rId4"/>
          <a:stretch>
            <a:fillRect/>
          </a:stretch>
        </p:blipFill>
        <p:spPr>
          <a:xfrm>
            <a:off x="496119" y="2221409"/>
            <a:ext cx="8151763" cy="14271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2FD491-28F3-42E7-AEBF-A9E3C462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4672260"/>
            <a:ext cx="342900" cy="342900"/>
            <a:chOff x="11361456" y="6195813"/>
            <a:chExt cx="548640" cy="548640"/>
          </a:xfrm>
        </p:grpSpPr>
        <p:sp>
          <p:nvSpPr>
            <p:cNvPr id="9" name="Oval 8">
              <a:extLst>
                <a:ext uri="{FF2B5EF4-FFF2-40B4-BE49-F238E27FC236}">
                  <a16:creationId xmlns:a16="http://schemas.microsoft.com/office/drawing/2014/main" id="{AD016B6E-F283-4CFB-9099-05C8DA6A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a:extLst>
                <a:ext uri="{FF2B5EF4-FFF2-40B4-BE49-F238E27FC236}">
                  <a16:creationId xmlns:a16="http://schemas.microsoft.com/office/drawing/2014/main" id="{72D0360E-345F-4790-B0A0-03ADC36B5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12" name="Rectangle 11">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48089"/>
            <a:ext cx="7667244" cy="60512"/>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51464"/>
            <a:ext cx="7667244" cy="1039405"/>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1528991"/>
            <a:ext cx="7667244" cy="60512"/>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 0"/>
          <p:cNvSpPr/>
          <p:nvPr/>
        </p:nvSpPr>
        <p:spPr>
          <a:xfrm>
            <a:off x="802386" y="363474"/>
            <a:ext cx="7543800" cy="1207008"/>
          </a:xfrm>
          <a:prstGeom prst="rect">
            <a:avLst/>
          </a:prstGeom>
        </p:spPr>
        <p:txBody>
          <a:bodyPr vert="horz" lIns="91440" tIns="45720" rIns="91440" bIns="45720" rtlCol="0" anchor="ctr">
            <a:normAutofit/>
          </a:bodyPr>
          <a:lstStyle/>
          <a:p>
            <a:pPr marL="0" indent="0" defTabSz="914400">
              <a:lnSpc>
                <a:spcPct val="90000"/>
              </a:lnSpc>
              <a:spcBef>
                <a:spcPct val="0"/>
              </a:spcBef>
              <a:spcAft>
                <a:spcPts val="600"/>
              </a:spcAft>
            </a:pPr>
            <a:r>
              <a:rPr lang="en-US" sz="5400" cap="all">
                <a:blipFill>
                  <a:blip r:embed="rId7">
                    <a:extLst>
                      <a:ext uri="{28A0092B-C50C-407E-A947-70E740481C1C}">
                        <a14:useLocalDpi xmlns:a14="http://schemas.microsoft.com/office/drawing/2010/main" val="0"/>
                      </a:ext>
                    </a:extLst>
                  </a:blip>
                  <a:tile tx="6350" ty="-127000" sx="65000" sy="64000" flip="none" algn="tl"/>
                </a:blipFill>
                <a:latin typeface="+mj-lt"/>
                <a:ea typeface="+mj-ea"/>
                <a:cs typeface="+mj-cs"/>
              </a:rPr>
              <a:t>Future Scope</a:t>
            </a:r>
          </a:p>
        </p:txBody>
      </p:sp>
      <p:sp>
        <p:nvSpPr>
          <p:cNvPr id="3" name="Text 1"/>
          <p:cNvSpPr/>
          <p:nvPr/>
        </p:nvSpPr>
        <p:spPr>
          <a:xfrm>
            <a:off x="802386" y="1740309"/>
            <a:ext cx="7543800" cy="2888840"/>
          </a:xfrm>
          <a:prstGeom prst="rect">
            <a:avLst/>
          </a:prstGeom>
        </p:spPr>
        <p:txBody>
          <a:bodyPr vert="horz" lIns="91440" tIns="45720" rIns="91440" bIns="45720" rtlCol="0">
            <a:normAutofit/>
          </a:bodyPr>
          <a:lstStyle/>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AI-based semantic similarity detection (transformer-based sentence encoders) to capture deeper paraphrase and semantic matches.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Multi-language document comparison and cross-lingual plagiarism detection.</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Real-time detection via streaming ingestion and incremental indexing.</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Cloud deployment and horizontal scaling for large institutional repositories.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Integration with Learning Management Systems (LMS) and institutional submission workflows.</a:t>
            </a:r>
          </a:p>
          <a:p>
            <a:pPr marL="223520" indent="-182880" defTabSz="914400">
              <a:lnSpc>
                <a:spcPct val="90000"/>
              </a:lnSpc>
              <a:spcAft>
                <a:spcPts val="600"/>
              </a:spcAft>
              <a:buClr>
                <a:schemeClr val="accent1">
                  <a:lumMod val="75000"/>
                </a:schemeClr>
              </a:buClr>
              <a:buSzPct val="85000"/>
              <a:buFont typeface="Wingdings" pitchFamily="2" charset="2"/>
              <a:buChar char="§"/>
            </a:pPr>
            <a:r>
              <a:rPr lang="en-US" sz="1500"/>
              <a:t>Advanced analytics and visual dashboards for trend analysis and policy enforcement.</a:t>
            </a:r>
          </a:p>
        </p:txBody>
      </p:sp>
      <p:sp>
        <p:nvSpPr>
          <p:cNvPr id="20" name="Oval 19">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4672260"/>
            <a:ext cx="342900" cy="342900"/>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4694155"/>
            <a:ext cx="299110" cy="299111"/>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010209"/>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3224772"/>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113584"/>
            <a:ext cx="7667244" cy="20574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3" name="Group 12">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3051692"/>
            <a:ext cx="810678" cy="810676"/>
            <a:chOff x="9685338" y="4460675"/>
            <a:chExt cx="1080904" cy="1080902"/>
          </a:xfrm>
        </p:grpSpPr>
        <p:sp>
          <p:nvSpPr>
            <p:cNvPr id="14" name="Oval 13">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5" name="Oval 14">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17" name="Rectangle 16">
            <a:extLst>
              <a:ext uri="{FF2B5EF4-FFF2-40B4-BE49-F238E27FC236}">
                <a16:creationId xmlns:a16="http://schemas.microsoft.com/office/drawing/2014/main" id="{48FDEBDB-5859-4B9E-8810-2C5CFED09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F32B5C-C034-1E15-42EC-749A0D0860BC}"/>
              </a:ext>
            </a:extLst>
          </p:cNvPr>
          <p:cNvSpPr>
            <a:spLocks noGrp="1"/>
          </p:cNvSpPr>
          <p:nvPr>
            <p:ph type="title"/>
          </p:nvPr>
        </p:nvSpPr>
        <p:spPr>
          <a:xfrm>
            <a:off x="788670" y="707231"/>
            <a:ext cx="7475220" cy="2643792"/>
          </a:xfrm>
        </p:spPr>
        <p:txBody>
          <a:bodyPr vert="horz" lIns="91440" tIns="45720" rIns="91440" bIns="45720" rtlCol="0" anchor="b">
            <a:normAutofit/>
          </a:bodyPr>
          <a:lstStyle/>
          <a:p>
            <a:pPr algn="ctr" defTabSz="914400">
              <a:lnSpc>
                <a:spcPct val="80000"/>
              </a:lnSpc>
            </a:pPr>
            <a:r>
              <a:rPr lang="en-US" sz="9600">
                <a:solidFill>
                  <a:srgbClr val="FFFFFF"/>
                </a:solidFill>
              </a:rPr>
              <a:t>Thank you</a:t>
            </a:r>
          </a:p>
        </p:txBody>
      </p:sp>
      <p:cxnSp>
        <p:nvCxnSpPr>
          <p:cNvPr id="19" name="Straight Connector 18">
            <a:extLst>
              <a:ext uri="{FF2B5EF4-FFF2-40B4-BE49-F238E27FC236}">
                <a16:creationId xmlns:a16="http://schemas.microsoft.com/office/drawing/2014/main" id="{B1D1A340-723B-4014-B5FE-204F062731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43000" y="3418941"/>
            <a:ext cx="6858000" cy="0"/>
          </a:xfrm>
          <a:prstGeom prst="line">
            <a:avLst/>
          </a:prstGeom>
          <a:ln w="28575">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532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5</TotalTime>
  <Words>449</Words>
  <Application>Microsoft Office PowerPoint</Application>
  <PresentationFormat>On-screen Show (16:9)</PresentationFormat>
  <Paragraphs>62</Paragraphs>
  <Slides>10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Noto Serif Bold</vt:lpstr>
      <vt:lpstr>Rockwell Extra Bold</vt:lpstr>
      <vt:lpstr>Rockwell</vt:lpstr>
      <vt:lpstr>Rockwell Condensed</vt:lpstr>
      <vt:lpstr>Noto Serif</vt:lpstr>
      <vt:lpstr>Noto Serif Medium</vt:lpstr>
      <vt:lpstr>Wingdings</vt:lpstr>
      <vt:lpstr>Calibri</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snigdha patlolla</cp:lastModifiedBy>
  <cp:revision>2</cp:revision>
  <dcterms:created xsi:type="dcterms:W3CDTF">2026-08-03T03:45:59Z</dcterms:created>
  <dcterms:modified xsi:type="dcterms:W3CDTF">2026-08-03T03:52:14Z</dcterms:modified>
</cp:coreProperties>
</file>