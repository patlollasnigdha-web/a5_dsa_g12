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59" r:id="rId5"/>
    <p:sldId id="260" r:id="rId6"/>
    <p:sldId id="261" r:id="rId7"/>
    <p:sldId id="262" r:id="rId8"/>
    <p:sldId id="263" r:id="rId9"/>
    <p:sldId id="266" r:id="rId10"/>
  </p:sldIdLst>
  <p:sldSz cx="9144000" cy="5143500" type="screen16x9"/>
  <p:notesSz cx="5143500" cy="9144000"/>
  <p:embeddedFontLst>
    <p:embeddedFont>
      <p:font typeface="Crimson Pro SemiBold" panose="020B0604020202020204" charset="0"/>
      <p:regular r:id="rId12"/>
    </p:embeddedFont>
    <p:embeddedFont>
      <p:font typeface="Gelasio" panose="020B0604020202020204" charset="0"/>
      <p:regular r:id="rId13"/>
    </p:embeddedFont>
    <p:embeddedFont>
      <p:font typeface="Gelasio Bold" panose="020B0604020202020204" charset="0"/>
      <p:regular r:id="rId14"/>
    </p:embeddedFont>
    <p:embeddedFont>
      <p:font typeface="Gelasio SemiBold" panose="020B0604020202020204" charset="0"/>
      <p:regular r:id="rId15"/>
    </p:embeddedFont>
    <p:embeddedFont>
      <p:font typeface="Heebo" pitchFamily="2" charset="-79"/>
      <p:regular r:id="rId16"/>
    </p:embeddedFont>
    <p:embeddedFont>
      <p:font typeface="Heebo Bold" charset="-79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igdha patlolla" userId="9de9a593e88f8bc1" providerId="LiveId" clId="{2AA3C4A4-52CA-4D56-B642-6D8CDE405371}"/>
    <pc:docChg chg="custSel modSld">
      <pc:chgData name="snigdha patlolla" userId="9de9a593e88f8bc1" providerId="LiveId" clId="{2AA3C4A4-52CA-4D56-B642-6D8CDE405371}" dt="2026-08-17T05:04:42.482" v="6" actId="478"/>
      <pc:docMkLst>
        <pc:docMk/>
      </pc:docMkLst>
      <pc:sldChg chg="modSp mod">
        <pc:chgData name="snigdha patlolla" userId="9de9a593e88f8bc1" providerId="LiveId" clId="{2AA3C4A4-52CA-4D56-B642-6D8CDE405371}" dt="2026-08-17T04:57:34.301" v="2" actId="1076"/>
        <pc:sldMkLst>
          <pc:docMk/>
          <pc:sldMk cId="0" sldId="259"/>
        </pc:sldMkLst>
        <pc:spChg chg="mod">
          <ac:chgData name="snigdha patlolla" userId="9de9a593e88f8bc1" providerId="LiveId" clId="{2AA3C4A4-52CA-4D56-B642-6D8CDE405371}" dt="2026-08-17T04:57:34.301" v="2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snigdha patlolla" userId="9de9a593e88f8bc1" providerId="LiveId" clId="{2AA3C4A4-52CA-4D56-B642-6D8CDE405371}" dt="2026-08-17T04:57:27.298" v="0" actId="1076"/>
          <ac:spMkLst>
            <pc:docMk/>
            <pc:sldMk cId="0" sldId="259"/>
            <ac:spMk id="6" creationId="{00000000-0000-0000-0000-000000000000}"/>
          </ac:spMkLst>
        </pc:spChg>
      </pc:sldChg>
      <pc:sldChg chg="delSp modSp mod">
        <pc:chgData name="snigdha patlolla" userId="9de9a593e88f8bc1" providerId="LiveId" clId="{2AA3C4A4-52CA-4D56-B642-6D8CDE405371}" dt="2026-08-17T05:04:42.482" v="6" actId="478"/>
        <pc:sldMkLst>
          <pc:docMk/>
          <pc:sldMk cId="0" sldId="260"/>
        </pc:sldMkLst>
        <pc:spChg chg="del">
          <ac:chgData name="snigdha patlolla" userId="9de9a593e88f8bc1" providerId="LiveId" clId="{2AA3C4A4-52CA-4D56-B642-6D8CDE405371}" dt="2026-08-17T05:04:36.592" v="3" actId="478"/>
          <ac:spMkLst>
            <pc:docMk/>
            <pc:sldMk cId="0" sldId="260"/>
            <ac:spMk id="20" creationId="{00000000-0000-0000-0000-000000000000}"/>
          </ac:spMkLst>
        </pc:spChg>
        <pc:spChg chg="del mod">
          <ac:chgData name="snigdha patlolla" userId="9de9a593e88f8bc1" providerId="LiveId" clId="{2AA3C4A4-52CA-4D56-B642-6D8CDE405371}" dt="2026-08-17T05:04:42.482" v="6" actId="478"/>
          <ac:spMkLst>
            <pc:docMk/>
            <pc:sldMk cId="0" sldId="260"/>
            <ac:spMk id="22" creationId="{00000000-0000-0000-0000-000000000000}"/>
          </ac:spMkLst>
        </pc:spChg>
        <pc:picChg chg="del">
          <ac:chgData name="snigdha patlolla" userId="9de9a593e88f8bc1" providerId="LiveId" clId="{2AA3C4A4-52CA-4D56-B642-6D8CDE405371}" dt="2026-08-17T05:04:38.601" v="4" actId="478"/>
          <ac:picMkLst>
            <pc:docMk/>
            <pc:sldMk cId="0" sldId="260"/>
            <ac:picMk id="2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539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20825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Intelligent Plagiarism and Near‑Duplicate Document Detection System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6350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PBL Review – 2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2532980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746558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96119" y="274692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Team Members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133204"/>
            <a:ext cx="8151763" cy="503188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2510030269 — Snigdha Patlolla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2510030123 — Komala Shravya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79586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6490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Why Intelligent Plagiarism Detection?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660996"/>
            <a:ext cx="4752677" cy="2466380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Traditional systems detect exact or highly similar text — limited against obfuscation.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Modern plagiarism uses paraphrasing, synonym swap, sentence reordering, and structural edits.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Near‑duplicate documents can be semantically equivalent despite different wording.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NLP and embeddings enable similarity detection based on meaning and context.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Proposed system fuses lexical and semantic methods for robust coverage.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99435" y="1706984"/>
            <a:ext cx="30531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Process Flow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435" y="2087910"/>
            <a:ext cx="3053135" cy="13165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04928" y="3154779"/>
            <a:ext cx="692628" cy="86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Compute Similarity</a:t>
            </a:r>
            <a:endParaRPr lang="en-US" sz="500" dirty="0"/>
          </a:p>
        </p:txBody>
      </p:sp>
      <p:sp>
        <p:nvSpPr>
          <p:cNvPr id="7" name="Text 4"/>
          <p:cNvSpPr/>
          <p:nvPr/>
        </p:nvSpPr>
        <p:spPr>
          <a:xfrm>
            <a:off x="5804928" y="2850023"/>
            <a:ext cx="692628" cy="8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Preprocess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5804928" y="2548345"/>
            <a:ext cx="692628" cy="8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Extract Text</a:t>
            </a:r>
            <a:endParaRPr lang="en-US" sz="500" dirty="0"/>
          </a:p>
        </p:txBody>
      </p:sp>
      <p:sp>
        <p:nvSpPr>
          <p:cNvPr id="9" name="Text 6"/>
          <p:cNvSpPr/>
          <p:nvPr/>
        </p:nvSpPr>
        <p:spPr>
          <a:xfrm>
            <a:off x="5804928" y="2243589"/>
            <a:ext cx="692628" cy="8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Upload Docs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5599435" y="3563913"/>
            <a:ext cx="305313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Flow shows pipeline stages used to compute fused similarity and classification.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440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References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84287"/>
            <a:ext cx="2631430" cy="1363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6430" y="1238399"/>
            <a:ext cx="2247007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Grozea, C., Gehl, C., &amp; Popescu, M. (2009).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ENCOPLOT: Pairwise Sequence Matching in Linear Time Applied to Plagiarism Detection. </a:t>
            </a:r>
            <a:r>
              <a:rPr lang="en-US" sz="10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PAN at CLEF 2009.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285" y="1084287"/>
            <a:ext cx="2631430" cy="13637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86596" y="1238399"/>
            <a:ext cx="2247007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Nawab, R. M. A., Stevenson, M., &amp; Clough, P. (2011).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External Plagiarism Detection using Information Retrieval and Sequence Alignment. </a:t>
            </a:r>
            <a:r>
              <a:rPr lang="en-US" sz="10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PAN at CLEF 2011.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6451" y="1084287"/>
            <a:ext cx="2631430" cy="13637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46763" y="1238399"/>
            <a:ext cx="224700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Knuth, D. E., Morris, J. H., &amp; Pratt, V. R. (1977).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Fast Pattern Matching in Strings. </a:t>
            </a:r>
            <a:r>
              <a:rPr lang="en-US" sz="10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SIAM Journal on Computing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6(2), 323–350.</a:t>
            </a:r>
            <a:endParaRPr lang="en-US" sz="10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576810"/>
            <a:ext cx="2631430" cy="136378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26430" y="2730922"/>
            <a:ext cx="224700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Sedgewick, R., &amp; Wayne, K. (2011).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10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Algorithms, 4th Edition.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Addison-Wesley. Section 5.3: Substring Search.</a:t>
            </a:r>
            <a:endParaRPr lang="en-US" sz="10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285" y="2576810"/>
            <a:ext cx="2631430" cy="136378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486596" y="2730922"/>
            <a:ext cx="2247007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Meuschke, N., &amp; Gipp, B. (2013).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State-of-the-art in detecting academic plagiarism. </a:t>
            </a:r>
            <a:r>
              <a:rPr lang="en-US" sz="10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International Journal for Educational Integrity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9(1), 50–71.</a:t>
            </a:r>
            <a:endParaRPr lang="en-US" sz="1050" dirty="0"/>
          </a:p>
        </p:txBody>
      </p:sp>
      <p:sp>
        <p:nvSpPr>
          <p:cNvPr id="14" name="Text 7"/>
          <p:cNvSpPr/>
          <p:nvPr/>
        </p:nvSpPr>
        <p:spPr>
          <a:xfrm>
            <a:off x="496119" y="4316834"/>
            <a:ext cx="8151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153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Technique Comparison — Illustrative Capability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16583"/>
            <a:ext cx="4752677" cy="31229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398987"/>
            <a:ext cx="52098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Note: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Illustrative comparison — not experimental results.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594746" y="1646858"/>
            <a:ext cx="30531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Key observations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705996" y="1948048"/>
            <a:ext cx="3053135" cy="1460004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Exact matching is effective for verbatim copying but fails with paraphrase.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Semantic models detect contextual similarity even with rewording.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Hybrid systems combining lexical and semantic signals broaden detection coverage.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836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Near‑Duplicate Documents — What to Expect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96119" y="1190699"/>
            <a:ext cx="4772174" cy="2195140"/>
          </a:xfrm>
          <a:prstGeom prst="roundRect">
            <a:avLst>
              <a:gd name="adj" fmla="val 83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96119" y="1695376"/>
            <a:ext cx="4772174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96119" y="2197671"/>
            <a:ext cx="4772174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96119" y="2699965"/>
            <a:ext cx="4772174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2846" y="1263030"/>
            <a:ext cx="178519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Document Type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94471" y="1263030"/>
            <a:ext cx="132799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Example Characteristics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66096" y="1263030"/>
            <a:ext cx="183281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Detection Challenge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2846" y="1765325"/>
            <a:ext cx="178519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Exact Duplicate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94471" y="1765325"/>
            <a:ext cx="132799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Same sentences and wording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66096" y="1765325"/>
            <a:ext cx="183281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Easy to detect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2846" y="2267620"/>
            <a:ext cx="178519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Paraphrased Copy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94471" y="2267620"/>
            <a:ext cx="132799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Same meaning, different wording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66096" y="2267620"/>
            <a:ext cx="1375618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Requires semantic analysis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2846" y="2769915"/>
            <a:ext cx="178519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Near‑Duplicate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94471" y="2769915"/>
            <a:ext cx="132799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Mostly similar with structural edits and insertions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66096" y="2769915"/>
            <a:ext cx="1375618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Requires combined lexical + semantic analysis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6119" y="3503563"/>
            <a:ext cx="4772174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570265" y="967978"/>
            <a:ext cx="3082379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Similarity Spectrum</a:t>
            </a:r>
            <a:endParaRPr lang="en-US" sz="115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265" y="1276052"/>
            <a:ext cx="3082379" cy="289121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840000" y="3390326"/>
            <a:ext cx="693520" cy="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Exact Duplicate</a:t>
            </a:r>
            <a:endParaRPr lang="en-US" sz="500" dirty="0"/>
          </a:p>
        </p:txBody>
      </p:sp>
      <p:sp>
        <p:nvSpPr>
          <p:cNvPr id="26" name="Text 22"/>
          <p:cNvSpPr/>
          <p:nvPr/>
        </p:nvSpPr>
        <p:spPr>
          <a:xfrm>
            <a:off x="7689388" y="3390326"/>
            <a:ext cx="693520" cy="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Highly Similar</a:t>
            </a:r>
            <a:endParaRPr lang="en-US" sz="500" dirty="0"/>
          </a:p>
        </p:txBody>
      </p:sp>
      <p:sp>
        <p:nvSpPr>
          <p:cNvPr id="27" name="Text 23"/>
          <p:cNvSpPr/>
          <p:nvPr/>
        </p:nvSpPr>
        <p:spPr>
          <a:xfrm>
            <a:off x="6764694" y="1772112"/>
            <a:ext cx="693520" cy="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Paraphrased</a:t>
            </a:r>
            <a:endParaRPr lang="en-US" sz="500" dirty="0"/>
          </a:p>
        </p:txBody>
      </p:sp>
      <p:sp>
        <p:nvSpPr>
          <p:cNvPr id="28" name="Text 24"/>
          <p:cNvSpPr/>
          <p:nvPr/>
        </p:nvSpPr>
        <p:spPr>
          <a:xfrm>
            <a:off x="6239160" y="2504161"/>
            <a:ext cx="627251" cy="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Partially Similar</a:t>
            </a:r>
            <a:endParaRPr lang="en-US" sz="500" dirty="0"/>
          </a:p>
        </p:txBody>
      </p:sp>
      <p:sp>
        <p:nvSpPr>
          <p:cNvPr id="29" name="Text 25"/>
          <p:cNvSpPr/>
          <p:nvPr/>
        </p:nvSpPr>
        <p:spPr>
          <a:xfrm>
            <a:off x="7356498" y="2504161"/>
            <a:ext cx="627251" cy="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Unrelated</a:t>
            </a:r>
            <a:endParaRPr lang="en-US" sz="500" dirty="0"/>
          </a:p>
        </p:txBody>
      </p:sp>
      <p:sp>
        <p:nvSpPr>
          <p:cNvPr id="30" name="Text 26"/>
          <p:cNvSpPr/>
          <p:nvPr/>
        </p:nvSpPr>
        <p:spPr>
          <a:xfrm>
            <a:off x="5570265" y="4284985"/>
            <a:ext cx="308237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Editable horizontal scale shows gradation from verbatim to unrelated content.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323"/>
            <a:ext cx="8151763" cy="29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Analysis — Research Gap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907182"/>
            <a:ext cx="8608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Summary gap analysis highlighting where prior work falls short and what the proposed system addresses. 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188169"/>
            <a:ext cx="8151763" cy="2424708"/>
          </a:xfrm>
          <a:prstGeom prst="roundRect">
            <a:avLst>
              <a:gd name="adj" fmla="val 72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96119" y="1493044"/>
            <a:ext cx="8151763" cy="733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96119" y="1795537"/>
            <a:ext cx="8151763" cy="733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96119" y="2098030"/>
            <a:ext cx="8151763" cy="733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96119" y="2400523"/>
            <a:ext cx="8151763" cy="733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6119" y="2703016"/>
            <a:ext cx="8151763" cy="733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96119" y="3005510"/>
            <a:ext cx="8151763" cy="733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96119" y="3308003"/>
            <a:ext cx="8151763" cy="733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8381" y="1255961"/>
            <a:ext cx="290936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Requirement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05249" y="1255961"/>
            <a:ext cx="290936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Existing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92118" y="1255961"/>
            <a:ext cx="299085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Proposed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8381" y="1558454"/>
            <a:ext cx="290936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Exact Copy Detection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05249" y="1558454"/>
            <a:ext cx="290936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92118" y="1558454"/>
            <a:ext cx="299085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8381" y="1860947"/>
            <a:ext cx="290936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Keyword Similarity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05249" y="1860947"/>
            <a:ext cx="290936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92118" y="1860947"/>
            <a:ext cx="299085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8381" y="2163440"/>
            <a:ext cx="290936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Paraphrase Detection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05249" y="2163440"/>
            <a:ext cx="290936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Limited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92118" y="2163440"/>
            <a:ext cx="299085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8381" y="2465933"/>
            <a:ext cx="290936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Semantic Similarity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05249" y="2465933"/>
            <a:ext cx="290936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Limited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92118" y="2465933"/>
            <a:ext cx="299085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8381" y="2768426"/>
            <a:ext cx="290936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Near‑Duplicate Detection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05249" y="2768426"/>
            <a:ext cx="290936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Partial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92118" y="2768426"/>
            <a:ext cx="299085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8381" y="3070920"/>
            <a:ext cx="290936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Explainable Similarity Score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05249" y="3070920"/>
            <a:ext cx="290936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Partial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92118" y="3070920"/>
            <a:ext cx="299085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8381" y="3373413"/>
            <a:ext cx="290936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Combined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05249" y="3373413"/>
            <a:ext cx="290936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Limited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92118" y="3373413"/>
            <a:ext cx="299085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6119" y="3751511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746558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96119" y="3904431"/>
            <a:ext cx="8151763" cy="819745"/>
          </a:xfrm>
          <a:prstGeom prst="roundRect">
            <a:avLst>
              <a:gd name="adj" fmla="val 2148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13470" y="4021782"/>
            <a:ext cx="7917061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RESEARCH GAP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13470" y="4263479"/>
            <a:ext cx="7917061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Existing approaches often prioritise either lexical matching or semantic similarity. A comprehensive, explainable fusion is needed to detect verbatim copying, paraphrase, and near‑duplicates at scale.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9375"/>
            <a:ext cx="8151763" cy="315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Proposed System — Architecture &amp; Weighting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33910"/>
            <a:ext cx="4344814" cy="18767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2900" y="2805641"/>
            <a:ext cx="645129" cy="234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Preprocessing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532900" y="3074058"/>
            <a:ext cx="645129" cy="26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Tokenize, normalize, remove stop-words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189425" y="2716799"/>
            <a:ext cx="645129" cy="234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Semantic Module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189425" y="2985217"/>
            <a:ext cx="645129" cy="35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Sentence embeddings and contextual similarity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706694" y="1803253"/>
            <a:ext cx="645129" cy="117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Input Docs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706694" y="1954173"/>
            <a:ext cx="645129" cy="177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Source documents for analysis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3991022" y="1803253"/>
            <a:ext cx="645129" cy="234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Fusion &amp; Classify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991022" y="2071671"/>
            <a:ext cx="645129" cy="26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Fuse scores, label originality and duplicates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2371443" y="1803253"/>
            <a:ext cx="645129" cy="234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Lexical Module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2371443" y="2071671"/>
            <a:ext cx="645129" cy="177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TF-IDF, cosine, phrase matching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496119" y="3637136"/>
            <a:ext cx="434481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Pipeline emphasises modular design, explainability, and fusion of multiple signals for robust classification.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153769" y="1076027"/>
            <a:ext cx="349880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Illustrative Contribution of Detection Signals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769" y="1399803"/>
            <a:ext cx="3498800" cy="26546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53769" y="4180954"/>
            <a:ext cx="349880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Note:</a:t>
            </a: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Illustrative system design weighting — to be validated during implementation.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7160"/>
            <a:ext cx="8151763" cy="29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Conclusion, Expected Outcome &amp; References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1033537"/>
            <a:ext cx="477649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314152"/>
            <a:ext cx="4776490" cy="960388"/>
          </a:xfrm>
          <a:prstGeom prst="rect">
            <a:avLst/>
          </a:prstGeom>
          <a:noFill/>
          <a:ln/>
        </p:spPr>
        <p:txBody>
          <a:bodyPr wrap="square" lIns="0" tIns="46960" rIns="0" bIns="0" rtlCol="0" anchor="t">
            <a:normAutofit/>
          </a:bodyPr>
          <a:lstStyle/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Effective detection requires recognising both textual overlap and semantic similarity.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State-of-the-art systems excel at text matching but struggle with paraphrase and structural edits.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Near‑duplicate detection needs fused lexical and semantic analysis for reliable results.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Our hybrid approach targets accuracy, scalability and interpretability for academic use.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6119" y="2371725"/>
            <a:ext cx="477649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Expected Outcome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664470"/>
            <a:ext cx="4776490" cy="18724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0500" y="2756300"/>
            <a:ext cx="874366" cy="281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Upload Documents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83774" y="2756300"/>
            <a:ext cx="874366" cy="281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Analyze Similarity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283774" y="4164030"/>
            <a:ext cx="874366" cy="281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Classify Documents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10500" y="4164030"/>
            <a:ext cx="874366" cy="281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Generate Report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563716" y="1375470"/>
            <a:ext cx="308885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References (compact academic format)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563716" y="1656085"/>
            <a:ext cx="3088853" cy="185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2000"/>
              </a:lnSpc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Turnitin — similarity and plagiarism detection technology (company materials).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PlagScan — plagiarism detection systems and technical overview.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Salton, G. et al. — TF‑IDF and cosine similarity fundamentals (classic IR literature).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Devlin, J. et al. — BERT: Pre-training of deep bidirectional transformers for language understanding.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Research on paraphrase identification and near‑duplicate detection — overview and surveys.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63716" y="3618161"/>
            <a:ext cx="3088853" cy="576858"/>
          </a:xfrm>
          <a:prstGeom prst="roundRect">
            <a:avLst>
              <a:gd name="adj" fmla="val 3053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1067" y="3761036"/>
            <a:ext cx="146745" cy="1173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945163" y="3734916"/>
            <a:ext cx="259005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All charts with numeric values are illustrative comparisons — not experimental results.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FE3B6C-C3A2-5C53-C97C-06A591BFA52A}"/>
              </a:ext>
            </a:extLst>
          </p:cNvPr>
          <p:cNvSpPr txBox="1"/>
          <p:nvPr/>
        </p:nvSpPr>
        <p:spPr>
          <a:xfrm>
            <a:off x="2314135" y="2110085"/>
            <a:ext cx="4663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359586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733</Words>
  <Application>Microsoft Office PowerPoint</Application>
  <PresentationFormat>On-screen Show (16:9)</PresentationFormat>
  <Paragraphs>120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Gelasio SemiBold</vt:lpstr>
      <vt:lpstr>Gelasio</vt:lpstr>
      <vt:lpstr>Crimson Pro SemiBold</vt:lpstr>
      <vt:lpstr>Arial</vt:lpstr>
      <vt:lpstr>Gelasio Bold</vt:lpstr>
      <vt:lpstr>Heebo</vt:lpstr>
      <vt:lpstr>Heebo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komala shravya</dc:creator>
  <cp:lastModifiedBy>snigdha patlolla</cp:lastModifiedBy>
  <cp:revision>2</cp:revision>
  <dcterms:created xsi:type="dcterms:W3CDTF">2026-08-14T10:34:12Z</dcterms:created>
  <dcterms:modified xsi:type="dcterms:W3CDTF">2026-08-17T05:04:47Z</dcterms:modified>
</cp:coreProperties>
</file>