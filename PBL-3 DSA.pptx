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DM Sans Bold" panose="020B0604020202020204" charset="0"/>
      <p:regular r:id="rId14"/>
    </p:embeddedFont>
    <p:embeddedFont>
      <p:font typeface="DM Sans SemiBold" panose="020B0604020202020204" charset="0"/>
      <p:regular r:id="rId15"/>
    </p:embeddedFont>
    <p:embeddedFont>
      <p:font typeface="Inter Bold" panose="020B0604020202020204" charset="0"/>
      <p:regular r:id="rId16"/>
    </p:embeddedFont>
    <p:embeddedFont>
      <p:font typeface="Inter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401463-3013-4082-BD30-B81A3F84AC57}" v="9" dt="2026-09-15T04:03:38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nigdha patlolla" userId="9de9a593e88f8bc1" providerId="LiveId" clId="{2AA3C4A4-52CA-4D56-B642-6D8CDE405371}"/>
    <pc:docChg chg="modSld modMainMaster">
      <pc:chgData name="snigdha patlolla" userId="9de9a593e88f8bc1" providerId="LiveId" clId="{2AA3C4A4-52CA-4D56-B642-6D8CDE405371}" dt="2026-09-15T04:05:01.970" v="33"/>
      <pc:docMkLst>
        <pc:docMk/>
      </pc:docMkLst>
      <pc:sldChg chg="addSp modSp mod">
        <pc:chgData name="snigdha patlolla" userId="9de9a593e88f8bc1" providerId="LiveId" clId="{2AA3C4A4-52CA-4D56-B642-6D8CDE405371}" dt="2026-09-14T16:59:03.957" v="30"/>
        <pc:sldMkLst>
          <pc:docMk/>
          <pc:sldMk cId="0" sldId="256"/>
        </pc:sldMkLst>
        <pc:spChg chg="mod">
          <ac:chgData name="snigdha patlolla" userId="9de9a593e88f8bc1" providerId="LiveId" clId="{2AA3C4A4-52CA-4D56-B642-6D8CDE405371}" dt="2026-09-14T16:28:53.487" v="2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nigdha patlolla" userId="9de9a593e88f8bc1" providerId="LiveId" clId="{2AA3C4A4-52CA-4D56-B642-6D8CDE405371}" dt="2026-09-14T16:28:59.886" v="28" actId="1076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snigdha patlolla" userId="9de9a593e88f8bc1" providerId="LiveId" clId="{2AA3C4A4-52CA-4D56-B642-6D8CDE405371}" dt="2026-09-14T16:59:03.957" v="30"/>
          <ac:picMkLst>
            <pc:docMk/>
            <pc:sldMk cId="0" sldId="256"/>
            <ac:picMk id="6" creationId="{BD7CB947-9090-3CD7-CBF4-0DEAC4CF21E0}"/>
          </ac:picMkLst>
        </pc:picChg>
      </pc:sldChg>
      <pc:sldChg chg="addSp delSp modSp mod">
        <pc:chgData name="snigdha patlolla" userId="9de9a593e88f8bc1" providerId="LiveId" clId="{2AA3C4A4-52CA-4D56-B642-6D8CDE405371}" dt="2026-09-15T04:05:01.970" v="33"/>
        <pc:sldMkLst>
          <pc:docMk/>
          <pc:sldMk cId="0" sldId="260"/>
        </pc:sldMkLst>
        <pc:spChg chg="add del mod">
          <ac:chgData name="snigdha patlolla" userId="9de9a593e88f8bc1" providerId="LiveId" clId="{2AA3C4A4-52CA-4D56-B642-6D8CDE405371}" dt="2026-09-15T04:05:01.970" v="33"/>
          <ac:spMkLst>
            <pc:docMk/>
            <pc:sldMk cId="0" sldId="260"/>
            <ac:spMk id="24" creationId="{98ECF7E8-41BD-1866-A5BE-9D081AE8008D}"/>
          </ac:spMkLst>
        </pc:spChg>
      </pc:sldChg>
      <pc:sldChg chg="modSp mod">
        <pc:chgData name="snigdha patlolla" userId="9de9a593e88f8bc1" providerId="LiveId" clId="{2AA3C4A4-52CA-4D56-B642-6D8CDE405371}" dt="2026-09-14T16:27:56.021" v="24" actId="14100"/>
        <pc:sldMkLst>
          <pc:docMk/>
          <pc:sldMk cId="0" sldId="266"/>
        </pc:sldMkLst>
        <pc:spChg chg="mod">
          <ac:chgData name="snigdha patlolla" userId="9de9a593e88f8bc1" providerId="LiveId" clId="{2AA3C4A4-52CA-4D56-B642-6D8CDE405371}" dt="2026-09-14T16:27:56.021" v="24" actId="14100"/>
          <ac:spMkLst>
            <pc:docMk/>
            <pc:sldMk cId="0" sldId="266"/>
            <ac:spMk id="3" creationId="{00000000-0000-0000-0000-000000000000}"/>
          </ac:spMkLst>
        </pc:spChg>
      </pc:sldChg>
      <pc:sldMasterChg chg="modSldLayout">
        <pc:chgData name="snigdha patlolla" userId="9de9a593e88f8bc1" providerId="LiveId" clId="{2AA3C4A4-52CA-4D56-B642-6D8CDE405371}" dt="2026-09-14T16:28:10.286" v="25"/>
        <pc:sldMasterMkLst>
          <pc:docMk/>
          <pc:sldMasterMk cId="4048491555" sldId="2147483651"/>
        </pc:sldMasterMkLst>
        <pc:sldLayoutChg chg="delSp">
          <pc:chgData name="snigdha patlolla" userId="9de9a593e88f8bc1" providerId="LiveId" clId="{2AA3C4A4-52CA-4D56-B642-6D8CDE405371}" dt="2026-09-14T16:28:10.286" v="25"/>
          <pc:sldLayoutMkLst>
            <pc:docMk/>
            <pc:sldMasterMk cId="4048491555" sldId="2147483651"/>
            <pc:sldLayoutMk cId="3012598642" sldId="2147483679"/>
          </pc:sldLayoutMkLst>
          <pc:spChg chg="del">
            <ac:chgData name="snigdha patlolla" userId="9de9a593e88f8bc1" providerId="LiveId" clId="{2AA3C4A4-52CA-4D56-B642-6D8CDE405371}" dt="2026-09-14T16:28:10.286" v="25"/>
            <ac:spMkLst>
              <pc:docMk/>
              <pc:sldMasterMk cId="4048491555" sldId="2147483651"/>
              <pc:sldLayoutMk cId="3012598642" sldId="2147483679"/>
              <ac:spMk id="2" creationId="{00000000-0000-0000-0000-000000000000}"/>
            </ac:spMkLst>
          </pc:spChg>
          <pc:spChg chg="del">
            <ac:chgData name="snigdha patlolla" userId="9de9a593e88f8bc1" providerId="LiveId" clId="{2AA3C4A4-52CA-4D56-B642-6D8CDE405371}" dt="2026-09-14T16:28:10.286" v="25"/>
            <ac:spMkLst>
              <pc:docMk/>
              <pc:sldMasterMk cId="4048491555" sldId="2147483651"/>
              <pc:sldLayoutMk cId="3012598642" sldId="2147483679"/>
              <ac:spMk id="3" creationId="{00000000-0000-0000-0000-000000000000}"/>
            </ac:spMkLst>
          </pc:spChg>
          <pc:picChg chg="del">
            <ac:chgData name="snigdha patlolla" userId="9de9a593e88f8bc1" providerId="LiveId" clId="{2AA3C4A4-52CA-4D56-B642-6D8CDE405371}" dt="2026-09-14T16:28:10.286" v="25"/>
            <ac:picMkLst>
              <pc:docMk/>
              <pc:sldMasterMk cId="4048491555" sldId="2147483651"/>
              <pc:sldLayoutMk cId="3012598642" sldId="2147483679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76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73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559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88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146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36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29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056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6999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7070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031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82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310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8414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385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9833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942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7472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7761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621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91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95359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5877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1440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439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7982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5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37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44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7FA43F5B-065E-43CE-B3FD-98C48A6F94D7}" type="datetime1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5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830" y="12310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0" u="sng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Intelligent Plagiarism Detector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86830" y="2351668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Detect Similarity. Protect Originality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3575645"/>
            <a:ext cx="10868745" cy="84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DSA Project — Review 3</a:t>
            </a:r>
            <a:endParaRPr lang="en-US" sz="16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Snigdha Patlolla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2510030269   |   </a:t>
            </a:r>
            <a:r>
              <a:rPr lang="en-US" sz="1600" b="1" dirty="0">
                <a:solidFill>
                  <a:srgbClr val="1C977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Shravya</a:t>
            </a: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2510030123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CB947-9090-3CD7-CBF4-0DEAC4CF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166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Methodology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42330"/>
            <a:ext cx="72675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Core Processing Pipeline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757561"/>
            <a:ext cx="3152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2006402"/>
            <a:ext cx="3558689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1475" y="2123281"/>
            <a:ext cx="355868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Document Upload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2519759"/>
            <a:ext cx="3558689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Extract text from submitted files across multiple formats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70377" y="1757561"/>
            <a:ext cx="3152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377" y="2006402"/>
            <a:ext cx="3558689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70377" y="2123281"/>
            <a:ext cx="355868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Text Preprocessing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370377" y="2519759"/>
            <a:ext cx="3558689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Normalize and clean textual data — remove noise, standardize case and whitespace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475" y="3280668"/>
            <a:ext cx="3152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5" y="3529509"/>
            <a:ext cx="3558689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1475" y="3646388"/>
            <a:ext cx="355868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Tokenization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1475" y="4042866"/>
            <a:ext cx="3558689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Break text into comparable units for algorithmic 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70377" y="3280668"/>
            <a:ext cx="3152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0377" y="3529509"/>
            <a:ext cx="3558689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70377" y="3646388"/>
            <a:ext cx="355868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Pattern &amp; Similarity Analysis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370377" y="4042866"/>
            <a:ext cx="3558689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Apply KMP, Rabin-Karp, and LCS algorithms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475" y="4803775"/>
            <a:ext cx="31521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1475" y="5052616"/>
            <a:ext cx="7267592" cy="1905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1475" y="5169495"/>
            <a:ext cx="72675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Score Calculation &amp; Visualization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61475" y="5565973"/>
            <a:ext cx="72675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similarity metrics and present findings via web interface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19979" y="1342330"/>
            <a:ext cx="321649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Methodology Components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319979" y="1841302"/>
            <a:ext cx="78778" cy="78780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548970" y="1757561"/>
            <a:ext cx="298750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Document Input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548970" y="2154039"/>
            <a:ext cx="298750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Accept multiple document formats for flexible submission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19979" y="3030736"/>
            <a:ext cx="78778" cy="78780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548970" y="2946995"/>
            <a:ext cx="298750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Algorithmic Detection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548970" y="3343473"/>
            <a:ext cx="298750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Apply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KMP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Rabin-Karp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LCS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 a unified pipeline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19979" y="4220170"/>
            <a:ext cx="78778" cy="78780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548970" y="4136430"/>
            <a:ext cx="298750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Score Generation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548970" y="4532908"/>
            <a:ext cx="298750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Compute plagiarism percentage from algorithmic outputs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19979" y="5409605"/>
            <a:ext cx="78778" cy="78780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548970" y="5325864"/>
            <a:ext cx="298750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Result Presentation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548970" y="5722342"/>
            <a:ext cx="298750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Display interpretable results through web-based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5300"/>
            <a:ext cx="1202898" cy="247352"/>
          </a:xfrm>
          <a:prstGeom prst="roundRect">
            <a:avLst>
              <a:gd name="adj" fmla="val 7898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9104" y="544116"/>
            <a:ext cx="1617225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06748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555750"/>
            <a:ext cx="1147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End-to-end architecture spanning four sequential stages — from document ingestion to result visualization.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4495"/>
            <a:ext cx="5434373" cy="6511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190" y="2805906"/>
            <a:ext cx="51089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Input Stage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4190" y="3156347"/>
            <a:ext cx="5108943" cy="8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 uploads reference and submitted documents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extracts text from various file formats (PDF, TXT, DOCX)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994495"/>
            <a:ext cx="5434373" cy="6511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58562" y="2805906"/>
            <a:ext cx="51089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Processing Stage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58562" y="3156347"/>
            <a:ext cx="5108943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Text preprocessing and normalization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Tokenization and segmentation into comparable units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150519"/>
            <a:ext cx="5434373" cy="6511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4190" y="4961930"/>
            <a:ext cx="51089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Algorithm Stage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4190" y="5312370"/>
            <a:ext cx="5108943" cy="88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KMP — efficient substring search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Rabin-Karp — rolling hash comparison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LCS / DP — similarity analysis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150519"/>
            <a:ext cx="5434373" cy="65117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58562" y="4961930"/>
            <a:ext cx="510894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Output Stage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258562" y="5312370"/>
            <a:ext cx="5108943" cy="88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Similarity score calculation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Plagiarism analysis and visualization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Results on web interface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4527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DSA Techniques Used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61475" y="1297583"/>
            <a:ext cx="3522773" cy="2570559"/>
          </a:xfrm>
          <a:prstGeom prst="roundRect">
            <a:avLst>
              <a:gd name="adj" fmla="val 92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9030" y="1455142"/>
            <a:ext cx="320766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KMP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19030" y="1791494"/>
            <a:ext cx="320766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Knuth-Morris-Pratt Pattern Matching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9030" y="2127845"/>
            <a:ext cx="3207662" cy="158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Efficient pattern matching without unnecessary re-comparisons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Uses LPS (Longest Proper Prefix which is also Suffix) array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Time complexity: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O(n + m)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linear in document length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34461" y="1297583"/>
            <a:ext cx="3522773" cy="2570559"/>
          </a:xfrm>
          <a:prstGeom prst="roundRect">
            <a:avLst>
              <a:gd name="adj" fmla="val 92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492017" y="1455142"/>
            <a:ext cx="320766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Rabin-Karp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92017" y="1791494"/>
            <a:ext cx="320766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Hash-Based String Matching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92017" y="2127845"/>
            <a:ext cx="3207662" cy="158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Hash-based string matching for rapid pattern location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Uses rolling hash for efficient segment comparison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Effective for finding multiple matching patterns simultaneously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07447" y="1297583"/>
            <a:ext cx="3522773" cy="2570559"/>
          </a:xfrm>
          <a:prstGeom prst="roundRect">
            <a:avLst>
              <a:gd name="adj" fmla="val 92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65003" y="1455142"/>
            <a:ext cx="320766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LCS / DP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65003" y="1791494"/>
            <a:ext cx="3207662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Longest Common Subsequence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5003" y="2127845"/>
            <a:ext cx="3207662" cy="158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Identifies common subsequences between documents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Measures similarity even when text is rearranged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Builds optimal solution through subproblem decomposition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4093468"/>
            <a:ext cx="1086874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Algorithm Comparison</a:t>
            </a:r>
            <a:endParaRPr lang="en-US" sz="15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565055"/>
          <a:ext cx="10868745" cy="1775574"/>
        </p:xfrm>
        <a:graphic>
          <a:graphicData uri="http://schemas.openxmlformats.org/drawingml/2006/table">
            <a:tbl>
              <a:tblPr/>
              <a:tblGrid>
                <a:gridCol w="30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2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2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3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Algorithm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9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7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 Purpose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1C9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9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7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Idea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1C9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KMP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Pattern matching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LPS array / prefix information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Rabin-Karp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Hash-based matching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Rolling hash computation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3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LCS / DP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Similarity analysis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Optimal substructure via dynamic programming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7639" marR="15763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6235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Novelty of Developed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51742" y="1203523"/>
            <a:ext cx="6591929" cy="5138142"/>
          </a:xfrm>
          <a:prstGeom prst="roundRect">
            <a:avLst>
              <a:gd name="adj" fmla="val 445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04138" y="1344017"/>
            <a:ext cx="6287136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Makes This Approach Innovative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7619" y="1792684"/>
            <a:ext cx="5803656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Multi-Algorithm Integration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7619" y="2171402"/>
            <a:ext cx="5803656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Combines KMP, Rabin-Karp, and LCS within a single cohesive workflow — no prior approach integrates all three for plagiarism 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7619" y="2973784"/>
            <a:ext cx="5803656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Algorithmic Comparison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7619" y="3352502"/>
            <a:ext cx="5803656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Performs structured DSA-based text comparison instead of simple word-count or surface-level matching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7619" y="4154884"/>
            <a:ext cx="5803656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Interpretable Results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7619" y="4533602"/>
            <a:ext cx="5803656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Converts algorithmic similarity metrics into understandable plagiarism scores for end users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7619" y="5335984"/>
            <a:ext cx="5803656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Practical Implementation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7619" y="5714702"/>
            <a:ext cx="5803656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Integrates algorithmic processing with a web-based interface for real-world usability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12150" y="1344017"/>
            <a:ext cx="412432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Traditional vs. Our Approach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12150" y="1740297"/>
            <a:ext cx="4124321" cy="4161036"/>
          </a:xfrm>
          <a:prstGeom prst="roundRect">
            <a:avLst>
              <a:gd name="adj" fmla="val 55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412150" y="1740297"/>
            <a:ext cx="4124321" cy="2080518"/>
          </a:xfrm>
          <a:custGeom>
            <a:avLst/>
            <a:gdLst/>
            <a:ahLst/>
            <a:cxnLst/>
            <a:rect l="l" t="t" r="r" b="b"/>
            <a:pathLst>
              <a:path w="4124321" h="2080518">
                <a:moveTo>
                  <a:pt x="19059" y="0"/>
                </a:moveTo>
                <a:lnTo>
                  <a:pt x="4105262" y="0"/>
                </a:lnTo>
                <a:arcTo wR="19059" hR="19059" stAng="16200000" swAng="5400000"/>
                <a:lnTo>
                  <a:pt x="4124321" y="2080518"/>
                </a:lnTo>
                <a:lnTo>
                  <a:pt x="0" y="2080518"/>
                </a:lnTo>
                <a:lnTo>
                  <a:pt x="0" y="19059"/>
                </a:lnTo>
                <a:arcTo wR="19059" hR="19059" stAng="10800000" swAng="5400000"/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64546" y="1892697"/>
            <a:ext cx="381952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Traditional Approach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64546" y="2271415"/>
            <a:ext cx="3819529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Single or basic matching algorithm → Limited accuracy and shallow textual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64546" y="2866827"/>
            <a:ext cx="3819529" cy="80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Word-count or keyword matching only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structural text analysis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Opaque similarity scoring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12150" y="3820815"/>
            <a:ext cx="4124321" cy="2080518"/>
          </a:xfrm>
          <a:custGeom>
            <a:avLst/>
            <a:gdLst/>
            <a:ahLst/>
            <a:cxnLst/>
            <a:rect l="l" t="t" r="r" b="b"/>
            <a:pathLst>
              <a:path w="4124321" h="2080518">
                <a:moveTo>
                  <a:pt x="0" y="0"/>
                </a:moveTo>
                <a:lnTo>
                  <a:pt x="4124321" y="0"/>
                </a:lnTo>
                <a:lnTo>
                  <a:pt x="4124321" y="2061459"/>
                </a:lnTo>
                <a:arcTo wR="19059" hR="19059" stAng="0" swAng="5400000"/>
                <a:lnTo>
                  <a:pt x="19059" y="2080518"/>
                </a:lnTo>
                <a:arcTo wR="19059" hR="19059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412150" y="3820815"/>
            <a:ext cx="412432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64546" y="3973215"/>
            <a:ext cx="381952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64546" y="4351933"/>
            <a:ext cx="3819529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Multi-stage DSA-based similarity analysis → Structured, algorithm-focused processing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64546" y="4947345"/>
            <a:ext cx="3819529" cy="80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Three complementary algorithms combined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Pattern, hash, and subsequence analysis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Transparent, interpretable results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5258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Datasets / Inputs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03040"/>
            <a:ext cx="423673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Input Document Types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699320"/>
            <a:ext cx="4236733" cy="917972"/>
          </a:xfrm>
          <a:prstGeom prst="roundRect">
            <a:avLst>
              <a:gd name="adj" fmla="val 249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3871" y="1851720"/>
            <a:ext cx="39319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Reference Document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3871" y="2230438"/>
            <a:ext cx="3931941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Original/baseline text used as the comparison anchor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757785"/>
            <a:ext cx="4236733" cy="1152426"/>
          </a:xfrm>
          <a:prstGeom prst="roundRect">
            <a:avLst>
              <a:gd name="adj" fmla="val 198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3871" y="2910185"/>
            <a:ext cx="39319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Submitted Document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3871" y="3288903"/>
            <a:ext cx="3931941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Text under evaluation — compared against the reference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4050705"/>
            <a:ext cx="4236733" cy="1152426"/>
          </a:xfrm>
          <a:prstGeom prst="roundRect">
            <a:avLst>
              <a:gd name="adj" fmla="val 198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3871" y="4203105"/>
            <a:ext cx="39319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Supported Formats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71" y="4581823"/>
            <a:ext cx="3931941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PDF, TXT, and DOCX files — text extracted automatically upon upload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76420" y="1303040"/>
            <a:ext cx="626005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Test Data Categories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76420" y="1780282"/>
            <a:ext cx="76198" cy="76200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93109" y="1699320"/>
            <a:ext cx="604336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Identical Documents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93109" y="2078038"/>
            <a:ext cx="6043362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Same content — exact match baseline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76420" y="2674541"/>
            <a:ext cx="76198" cy="76200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93109" y="2593578"/>
            <a:ext cx="604336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Highly Similar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93109" y="2972296"/>
            <a:ext cx="6043362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Significant overlap with minor variations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76420" y="3568799"/>
            <a:ext cx="76198" cy="76200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93109" y="3487837"/>
            <a:ext cx="604336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Partially Similar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93109" y="3866555"/>
            <a:ext cx="6043362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Some common sections, mostly different content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76420" y="4463058"/>
            <a:ext cx="76198" cy="76200"/>
          </a:xfrm>
          <a:prstGeom prst="ellipse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93109" y="4382095"/>
            <a:ext cx="604336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Completely Different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93109" y="4760813"/>
            <a:ext cx="6043362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meaningful overlap between documents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76420" y="5153323"/>
            <a:ext cx="626005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Scalability &amp; Customization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76420" y="5532041"/>
            <a:ext cx="6260050" cy="80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Documents can vary in length without affecting algorithm correctness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Methodology extensible to larger document collections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Threshold values adjustable for different sensitivity levels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73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Application Scenarios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6480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Intelligent Plagiarism Detector is adaptable to educational and document-verification environments — anywhere textual originality must be verified systematically.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80072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100189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Academic Assignments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457873"/>
            <a:ext cx="5330989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copied or highly similar student submissions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plagiarism in coursework and projects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480072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132" y="3100189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Reports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99132" y="3457873"/>
            <a:ext cx="5331089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 technical reports for repeated content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Ensure originality in project documentation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75646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99576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Research Documents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61475" y="5353447"/>
            <a:ext cx="5330989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overlapping textual content between papers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Check for unattributed similarities in research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4375646"/>
            <a:ext cx="413434" cy="413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9132" y="499576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Content Verification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99132" y="5353447"/>
            <a:ext cx="5331089" cy="58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Check textual similarity before publishing or submitting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Verify originality of written content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307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Methodology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13842"/>
            <a:ext cx="10868745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completed system was tested through structured test cases covering different levels of textual similarity and document characteristics, verifying correctness and consistency of the multi-algorithm methodology.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981299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Test Cases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377579"/>
          <a:ext cx="5248441" cy="2761088"/>
        </p:xfrm>
        <a:graphic>
          <a:graphicData uri="http://schemas.openxmlformats.org/drawingml/2006/table">
            <a:tbl>
              <a:tblPr/>
              <a:tblGrid>
                <a:gridCol w="629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9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9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9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7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Input Condition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1C9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9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7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Expected 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1C97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7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Identical documents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Very High</a:t>
                      </a: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similarity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Highly similar documents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</a:t>
                      </a: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similarity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1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Partially similar documents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similarity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6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Completely different documents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 similarity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9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TC5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Different document sizes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Successful comparison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88129" y="1981299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Evaluation Flow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129" y="2377579"/>
            <a:ext cx="5248441" cy="24020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06877" y="4114335"/>
            <a:ext cx="985350" cy="379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Compare Expected</a:t>
            </a:r>
            <a:endParaRPr lang="en-US" sz="1150" dirty="0"/>
          </a:p>
        </p:txBody>
      </p:sp>
      <p:sp>
        <p:nvSpPr>
          <p:cNvPr id="5" name="Text 5"/>
          <p:cNvSpPr/>
          <p:nvPr/>
        </p:nvSpPr>
        <p:spPr>
          <a:xfrm>
            <a:off x="9065065" y="4114335"/>
            <a:ext cx="985351" cy="379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Similarity Score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830003" y="4114335"/>
            <a:ext cx="985350" cy="379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Algorithm Processing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567945" y="4209245"/>
            <a:ext cx="985350" cy="189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Test Input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288129" y="4937720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Evaluation Objectives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288129" y="5316438"/>
            <a:ext cx="5248441" cy="10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Focus on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correctness and consistency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methodology across all test cases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Verify algorithmic outputs through the web interface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Confirm system handles documents of varying length reliably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0495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Methodology Evaluation – Results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245691"/>
            <a:ext cx="10868745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 test cases produced results aligned with expected behavior. The multi-algorithm approach successfully identifies and quantifies textual similarity across diverse document pairs.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2035175"/>
            <a:ext cx="6032548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Similarity Score Distribution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40880"/>
            <a:ext cx="2943548" cy="1939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1698" y="2614910"/>
            <a:ext cx="2519299" cy="484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Very High Similarity — 95–100%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1698" y="3244652"/>
            <a:ext cx="2519299" cy="9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Identical Documents: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Exact content match produces near-perfect scores across all three algorithms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0375" y="2440880"/>
            <a:ext cx="2943647" cy="1939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00598" y="2614910"/>
            <a:ext cx="251939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 Similarity — 75–94%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000598" y="3002459"/>
            <a:ext cx="2519399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Highly Similar Documents: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Significant overlap with minor variations consistently detected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525268"/>
            <a:ext cx="2943548" cy="169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1698" y="4699298"/>
            <a:ext cx="2519299" cy="484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Moderate Similarity — 40–74%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911698" y="5329039"/>
            <a:ext cx="2519299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Partially Similar Documents: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Some common sections reflected in intermediate scores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0375" y="4525268"/>
            <a:ext cx="2943647" cy="16987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00598" y="4699298"/>
            <a:ext cx="251939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Low Similarity — 0–39%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000598" y="5086846"/>
            <a:ext cx="2519399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Different Documents: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Unrelated content produces substantially lower scores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7078585" y="2035175"/>
            <a:ext cx="445788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7572781" y="2494161"/>
            <a:ext cx="39636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Consistent Differentiation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572781" y="2881709"/>
            <a:ext cx="3963690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Similar documents consistently produce higher similarity scores; unrelated documents produce substantially lower scores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572781" y="3946624"/>
            <a:ext cx="39636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Expected Behaviour Confirmed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572781" y="4334173"/>
            <a:ext cx="3963690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Output is consistent with all expected test conditions across TC1–TC5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572781" y="5158780"/>
            <a:ext cx="39636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Length Invariance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572781" y="5546328"/>
            <a:ext cx="3963690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System handles documents of varying lengths effectively without degradation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5213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Validation &amp; Discussion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383506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Validation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761232"/>
            <a:ext cx="5254692" cy="1101527"/>
          </a:xfrm>
          <a:prstGeom prst="roundRect">
            <a:avLst>
              <a:gd name="adj" fmla="val 200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8712" y="1908473"/>
            <a:ext cx="4960218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Test Case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8712" y="2269827"/>
            <a:ext cx="4960218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Cases designed with varying levels of textual similarity to cover full detection spectrum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993926"/>
            <a:ext cx="5254692" cy="1101527"/>
          </a:xfrm>
          <a:prstGeom prst="roundRect">
            <a:avLst>
              <a:gd name="adj" fmla="val 200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08712" y="3141166"/>
            <a:ext cx="4960218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Systematic Comparison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8712" y="3502521"/>
            <a:ext cx="4960218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Expected and observed behavior compared systematically across all conditions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1475" y="4226620"/>
            <a:ext cx="5254692" cy="878681"/>
          </a:xfrm>
          <a:prstGeom prst="roundRect">
            <a:avLst>
              <a:gd name="adj" fmla="val 251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8712" y="4373860"/>
            <a:ext cx="4960218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Interface Verification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8712" y="4735215"/>
            <a:ext cx="496021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Algorithmic outputs verified through application interface for accuracy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5236468"/>
            <a:ext cx="5254692" cy="878681"/>
          </a:xfrm>
          <a:prstGeom prst="roundRect">
            <a:avLst>
              <a:gd name="adj" fmla="val 251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8712" y="5383709"/>
            <a:ext cx="4960218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Consistency 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8712" y="5745063"/>
            <a:ext cx="496021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Results checked for consistency across multiple independent runs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81878" y="1383506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Discussion of Findings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7141" y="1765697"/>
            <a:ext cx="220855" cy="22086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60497" y="1761232"/>
            <a:ext cx="477607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Exact &amp; Near-Exact Matches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60497" y="2122587"/>
            <a:ext cx="477607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Identical and near-identical documents result in strong, unambiguous similarity scores</a:t>
            </a:r>
            <a:endParaRPr lang="en-US" sz="11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7141" y="2835077"/>
            <a:ext cx="220855" cy="22086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760497" y="2830612"/>
            <a:ext cx="477607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Partial Overlap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760497" y="3191966"/>
            <a:ext cx="477607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Documents with some shared content produce intermediate similarity values — correctly differentiated from full matches</a:t>
            </a:r>
            <a:endParaRPr lang="en-US" sz="11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7141" y="3904456"/>
            <a:ext cx="220855" cy="22086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60497" y="3899991"/>
            <a:ext cx="477607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Unrelated Documents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760497" y="4261346"/>
            <a:ext cx="477607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Substantially lower similarity confirmed — methodology avoids false positives on unrelated content</a:t>
            </a:r>
            <a:endParaRPr lang="en-US" sz="115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7141" y="4973836"/>
            <a:ext cx="220855" cy="22086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60497" y="4969371"/>
            <a:ext cx="4776073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Robust Multi-Algorithm Detection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760497" y="5330726"/>
            <a:ext cx="4776073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Multi-algorithm approach demonstrates practical application of DSA concepts in real-world document analysis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507059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082351" y="2798570"/>
            <a:ext cx="10093306" cy="1876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000" u="sng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THANK YOU</a:t>
            </a:r>
            <a:endParaRPr lang="en-US" sz="6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51</TotalTime>
  <Words>1014</Words>
  <Application>Microsoft Office PowerPoint</Application>
  <PresentationFormat>Widescreen</PresentationFormat>
  <Paragraphs>211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Inter</vt:lpstr>
      <vt:lpstr>Inter Medium</vt:lpstr>
      <vt:lpstr>DM Sans SemiBold</vt:lpstr>
      <vt:lpstr>Inter Bold</vt:lpstr>
      <vt:lpstr>DM Sans Light</vt:lpstr>
      <vt:lpstr>DM Sans Bold</vt:lpstr>
      <vt:lpstr>Arial</vt:lpstr>
      <vt:lpstr>Modulo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snigdha patlolla</cp:lastModifiedBy>
  <cp:revision>1</cp:revision>
  <dcterms:created xsi:type="dcterms:W3CDTF">2026-09-14T14:49:52Z</dcterms:created>
  <dcterms:modified xsi:type="dcterms:W3CDTF">2026-09-15T04:05:12Z</dcterms:modified>
</cp:coreProperties>
</file>